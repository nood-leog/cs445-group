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66" r:id="rId4"/>
  </p:sldMasterIdLst>
  <p:notesMasterIdLst>
    <p:notesMasterId r:id="rId41"/>
  </p:notesMasterIdLst>
  <p:sldIdLst>
    <p:sldId id="289" r:id="rId5"/>
    <p:sldId id="286" r:id="rId6"/>
    <p:sldId id="301" r:id="rId7"/>
    <p:sldId id="280" r:id="rId8"/>
    <p:sldId id="281" r:id="rId9"/>
    <p:sldId id="288" r:id="rId10"/>
    <p:sldId id="279" r:id="rId11"/>
    <p:sldId id="300" r:id="rId12"/>
    <p:sldId id="291" r:id="rId13"/>
    <p:sldId id="292" r:id="rId14"/>
    <p:sldId id="278" r:id="rId15"/>
    <p:sldId id="295" r:id="rId16"/>
    <p:sldId id="294" r:id="rId17"/>
    <p:sldId id="293" r:id="rId18"/>
    <p:sldId id="284" r:id="rId19"/>
    <p:sldId id="297" r:id="rId20"/>
    <p:sldId id="256" r:id="rId21"/>
    <p:sldId id="258" r:id="rId22"/>
    <p:sldId id="267" r:id="rId23"/>
    <p:sldId id="268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69" r:id="rId32"/>
    <p:sldId id="259" r:id="rId33"/>
    <p:sldId id="261" r:id="rId34"/>
    <p:sldId id="263" r:id="rId35"/>
    <p:sldId id="264" r:id="rId36"/>
    <p:sldId id="260" r:id="rId37"/>
    <p:sldId id="265" r:id="rId38"/>
    <p:sldId id="266" r:id="rId39"/>
    <p:sldId id="296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00D6"/>
    <a:srgbClr val="A5BC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9928D8-40D6-4097-A429-F060BED8675C}" v="1" dt="2025-06-03T23:54:10.2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736" autoAdjust="0"/>
    <p:restoredTop sz="94710"/>
  </p:normalViewPr>
  <p:slideViewPr>
    <p:cSldViewPr snapToGrid="0">
      <p:cViewPr>
        <p:scale>
          <a:sx n="75" d="100"/>
          <a:sy n="75" d="100"/>
        </p:scale>
        <p:origin x="2472" y="1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Boyce" userId="c4ce5d92-0ad6-4fe1-b8cc-ac295b15b57b" providerId="ADAL" clId="{FD9928D8-40D6-4097-A429-F060BED8675C}"/>
    <pc:docChg chg="undo custSel modSld">
      <pc:chgData name="Alex Boyce" userId="c4ce5d92-0ad6-4fe1-b8cc-ac295b15b57b" providerId="ADAL" clId="{FD9928D8-40D6-4097-A429-F060BED8675C}" dt="2025-06-03T23:54:17.342" v="5" actId="1076"/>
      <pc:docMkLst>
        <pc:docMk/>
      </pc:docMkLst>
      <pc:sldChg chg="modSp mod">
        <pc:chgData name="Alex Boyce" userId="c4ce5d92-0ad6-4fe1-b8cc-ac295b15b57b" providerId="ADAL" clId="{FD9928D8-40D6-4097-A429-F060BED8675C}" dt="2025-06-03T23:54:17.342" v="5" actId="1076"/>
        <pc:sldMkLst>
          <pc:docMk/>
          <pc:sldMk cId="1551641196" sldId="301"/>
        </pc:sldMkLst>
        <pc:spChg chg="mod">
          <ac:chgData name="Alex Boyce" userId="c4ce5d92-0ad6-4fe1-b8cc-ac295b15b57b" providerId="ADAL" clId="{FD9928D8-40D6-4097-A429-F060BED8675C}" dt="2025-06-03T23:54:17.342" v="5" actId="1076"/>
          <ac:spMkLst>
            <pc:docMk/>
            <pc:sldMk cId="1551641196" sldId="301"/>
            <ac:spMk id="2" creationId="{559420B1-2985-5CBA-30E4-380DEF37207F}"/>
          </ac:spMkLst>
        </pc:spChg>
        <pc:spChg chg="mod">
          <ac:chgData name="Alex Boyce" userId="c4ce5d92-0ad6-4fe1-b8cc-ac295b15b57b" providerId="ADAL" clId="{FD9928D8-40D6-4097-A429-F060BED8675C}" dt="2025-06-03T23:54:13.052" v="3" actId="1076"/>
          <ac:spMkLst>
            <pc:docMk/>
            <pc:sldMk cId="1551641196" sldId="301"/>
            <ac:spMk id="6" creationId="{0F69A5AF-6DAE-8515-07DA-282A42B82F4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914EBE-97E2-B247-ACBA-33F49AB8AA75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EAC5BF-9521-FD41-A567-1E381EF3F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74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507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70102-F81A-9D84-0771-7721372E3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541028-4358-83E0-73EA-929E1164D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C43FA-97AD-C77E-5098-B0E41ABC0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AF9729-F406-EE08-7C1F-6054E4AAC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43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37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D6BC6-146C-77DB-F9A1-9C2E6549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E56BAD-D503-38D3-CA61-6405BBF03B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32892-2DB3-6F80-CEB3-4CB985522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DA03B-D705-B0A4-12D8-DF3FBC98B2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698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4AAD-ED47-EA6A-3989-D9CD55A9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A90C1-0879-6528-EC2F-1D8FE9B0E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D03B31-98B8-BAC3-8B68-570E0E5BE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FB427-821C-AA4F-A0EC-CD63A13E0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8526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4B5CA-CF76-046D-78DF-0E18A7385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5AF62-38D4-7E93-5632-81ED818F5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FF859C-A913-321C-FF86-B0341FAC9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A53CD-6412-B9F7-3E03-6292274059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286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8105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6072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877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1513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4366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257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154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909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3291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74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9315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93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444479B-705B-4489-957E-7E8A228BDFA0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61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53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3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05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6/3/2025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17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6/3/2025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642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6/3/2025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93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602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579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18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02676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1543210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97142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263720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86605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4842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349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3150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67" r:id="rId1"/>
    <p:sldLayoutId id="2147484068" r:id="rId2"/>
    <p:sldLayoutId id="2147484069" r:id="rId3"/>
    <p:sldLayoutId id="2147484070" r:id="rId4"/>
    <p:sldLayoutId id="2147484071" r:id="rId5"/>
    <p:sldLayoutId id="2147484072" r:id="rId6"/>
    <p:sldLayoutId id="2147484073" r:id="rId7"/>
    <p:sldLayoutId id="2147484074" r:id="rId8"/>
    <p:sldLayoutId id="2147484075" r:id="rId9"/>
    <p:sldLayoutId id="2147484076" r:id="rId10"/>
    <p:sldLayoutId id="2147484077" r:id="rId11"/>
    <p:sldLayoutId id="2147484078" r:id="rId12"/>
    <p:sldLayoutId id="2147484079" r:id="rId13"/>
    <p:sldLayoutId id="2147484080" r:id="rId14"/>
    <p:sldLayoutId id="2147484081" r:id="rId15"/>
    <p:sldLayoutId id="2147484082" r:id="rId16"/>
    <p:sldLayoutId id="214748408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45DA2-2488-FADD-F495-93B7AB4D9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290" y="2482510"/>
            <a:ext cx="6377659" cy="1662791"/>
          </a:xfrm>
        </p:spPr>
        <p:txBody>
          <a:bodyPr>
            <a:normAutofit/>
          </a:bodyPr>
          <a:lstStyle/>
          <a:p>
            <a:r>
              <a:rPr lang="en-US" dirty="0"/>
              <a:t>CS445 Final Project</a:t>
            </a:r>
            <a:br>
              <a:rPr lang="en-US" dirty="0"/>
            </a:br>
            <a:r>
              <a:rPr lang="en-US" dirty="0"/>
              <a:t>Group 2 – Green Data Trees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 descr="A group of green circles&#10;&#10;AI-generated content may be incorrect.">
            <a:extLst>
              <a:ext uri="{FF2B5EF4-FFF2-40B4-BE49-F238E27FC236}">
                <a16:creationId xmlns:a16="http://schemas.microsoft.com/office/drawing/2014/main" id="{0837A479-AEE2-3862-83B4-CDD0186EB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089514" y="1949264"/>
            <a:ext cx="2695388" cy="269538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F41732-BF64-33E0-055D-2A0FA1A959CA}"/>
              </a:ext>
            </a:extLst>
          </p:cNvPr>
          <p:cNvSpPr txBox="1"/>
          <p:nvPr/>
        </p:nvSpPr>
        <p:spPr>
          <a:xfrm>
            <a:off x="1247290" y="3791358"/>
            <a:ext cx="24775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Alexander Boyce</a:t>
            </a:r>
            <a:br>
              <a:rPr lang="en-US" sz="2000" dirty="0"/>
            </a:br>
            <a:r>
              <a:rPr lang="en-US" sz="2000" dirty="0"/>
              <a:t>Kyle Dennewith</a:t>
            </a:r>
          </a:p>
        </p:txBody>
      </p:sp>
    </p:spTree>
    <p:extLst>
      <p:ext uri="{BB962C8B-B14F-4D97-AF65-F5344CB8AC3E}">
        <p14:creationId xmlns:p14="http://schemas.microsoft.com/office/powerpoint/2010/main" val="1344547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E37FA-01E4-91F5-8333-561DDD5A5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1478" y="387732"/>
            <a:ext cx="6420922" cy="1210282"/>
          </a:xfrm>
        </p:spPr>
        <p:txBody>
          <a:bodyPr/>
          <a:lstStyle/>
          <a:p>
            <a:r>
              <a:rPr lang="en-US" dirty="0"/>
              <a:t>About Us and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B768D1-D06B-E41E-762A-841EA5F4B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7924" y="1713407"/>
            <a:ext cx="10721075" cy="19394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Our group research aims to accomplish the following:</a:t>
            </a:r>
          </a:p>
          <a:p>
            <a:r>
              <a:rPr lang="en-US" sz="2200" b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lang="en-US" sz="2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nvestigate</a:t>
            </a:r>
            <a:r>
              <a:rPr lang="en-US" sz="2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the market dynamics of the legal cannabis industry in the state of Connecticut and Washington State.</a:t>
            </a:r>
          </a:p>
          <a:p>
            <a:r>
              <a:rPr lang="en-US" sz="2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Focus </a:t>
            </a:r>
            <a:r>
              <a:rPr lang="en-US" sz="2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 state-wide consumption patterns, market structure, and other social trends.</a:t>
            </a:r>
          </a:p>
          <a:p>
            <a:endParaRPr lang="en-US" sz="2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b="1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group of green circles&#10;&#10;AI-generated content may be incorrect.">
            <a:extLst>
              <a:ext uri="{FF2B5EF4-FFF2-40B4-BE49-F238E27FC236}">
                <a16:creationId xmlns:a16="http://schemas.microsoft.com/office/drawing/2014/main" id="{82BF5F72-A4B7-A088-E00D-DD141103E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9545" y="156945"/>
            <a:ext cx="1939454" cy="193945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45DA025-3A77-3FFC-BCAF-7C6AB83C4C1F}"/>
              </a:ext>
            </a:extLst>
          </p:cNvPr>
          <p:cNvSpPr/>
          <p:nvPr/>
        </p:nvSpPr>
        <p:spPr>
          <a:xfrm>
            <a:off x="2323071" y="3768254"/>
            <a:ext cx="9048794" cy="27931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 : </a:t>
            </a:r>
            <a:r>
              <a:rPr lang="en-US" sz="1800" b="1" u="sng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Why this Topic?</a:t>
            </a:r>
          </a:p>
          <a:p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:   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recent wave of state-level legalization across the county presents a novel regulated   	market distinct from long-established industries like alcohol, firearms, and nicotine 	products. </a:t>
            </a:r>
          </a:p>
          <a:p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 :  </a:t>
            </a:r>
            <a:r>
              <a:rPr lang="en-US" sz="1800" b="1" u="sng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Where did we find this data?</a:t>
            </a:r>
          </a:p>
          <a:p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: 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 will be utilizing multiple publicly available datasets from data.gov, and the State of   	Connecticu</a:t>
            </a:r>
            <a:r>
              <a:rPr lang="en-US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open data portal.</a:t>
            </a: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063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420B1-2985-5CBA-30E4-380DEF372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43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Technologies utilized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F69A5AF-6DAE-8515-07DA-282A42B82F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74542" y="2031584"/>
            <a:ext cx="9772868" cy="3139321"/>
          </a:xfrm>
          <a:prstGeom prst="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Pandas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Reading CSVs, data cleaning, aggregation, and reshaping</a:t>
            </a:r>
            <a:endParaRPr lang="en-US" alt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NumPy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Numeric operations like linear trends</a:t>
            </a:r>
            <a:r>
              <a:rPr lang="en-US" altLang="en-US" sz="1800" dirty="0">
                <a:latin typeface="Arial" panose="020B0604020202020204" pitchFamily="34" charset="0"/>
              </a:rPr>
              <a:t> and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moving averages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Matplotlib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Plotting library for bar plots,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stackplots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line plots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GeoPandas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Reading and manipulating shapefiles, merging geographic data (ZIP boundaries, city points)</a:t>
            </a:r>
          </a:p>
        </p:txBody>
      </p:sp>
    </p:spTree>
    <p:extLst>
      <p:ext uri="{BB962C8B-B14F-4D97-AF65-F5344CB8AC3E}">
        <p14:creationId xmlns:p14="http://schemas.microsoft.com/office/powerpoint/2010/main" val="1551641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0" y="-1123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1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Cannabis Sales By Week</a:t>
            </a:r>
            <a:endParaRPr lang="en-US" sz="60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3425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1B4B3-95A0-8A61-0397-CDF2D351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A5C7C-2264-EA8A-BDDA-810ECBAD63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87461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893CDF-902A-BE72-EDF4-1F3E560B4AB6}"/>
              </a:ext>
            </a:extLst>
          </p:cNvPr>
          <p:cNvSpPr txBox="1">
            <a:spLocks/>
          </p:cNvSpPr>
          <p:nvPr/>
        </p:nvSpPr>
        <p:spPr>
          <a:xfrm>
            <a:off x="7657696" y="6577340"/>
            <a:ext cx="4629554" cy="39993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One - Cannabis_Retail_Sales_by_Week_Ending.csv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DA046-8CCE-ACE5-8458-5312085238E9}"/>
              </a:ext>
            </a:extLst>
          </p:cNvPr>
          <p:cNvSpPr txBox="1"/>
          <p:nvPr/>
        </p:nvSpPr>
        <p:spPr>
          <a:xfrm>
            <a:off x="236723" y="1808868"/>
            <a:ext cx="5734278" cy="1477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US" b="1" u="sng" dirty="0"/>
              <a:t>What is this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dataset tracks weekly adult-use cannabis retail sales in Connecticut.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Covers the time period from January 2023 to April 2025.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F2BA3-D3B8-251B-9E82-C6B48FDB4E37}"/>
              </a:ext>
            </a:extLst>
          </p:cNvPr>
          <p:cNvSpPr txBox="1"/>
          <p:nvPr/>
        </p:nvSpPr>
        <p:spPr>
          <a:xfrm>
            <a:off x="6292838" y="3332362"/>
            <a:ext cx="57342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Some of the data in : Cannabis_Retail_Sales_by_Week_Ending.csv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11490D-FBA2-4C5D-AE51-75689DA65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515" y="1855737"/>
            <a:ext cx="5896798" cy="15337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17E72FE-9457-2DA8-A616-9FAB929C9AE1}"/>
              </a:ext>
            </a:extLst>
          </p:cNvPr>
          <p:cNvSpPr txBox="1"/>
          <p:nvPr/>
        </p:nvSpPr>
        <p:spPr>
          <a:xfrm>
            <a:off x="1297028" y="4290911"/>
            <a:ext cx="10137235" cy="17543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Motivating Questions:</a:t>
            </a:r>
          </a:p>
          <a:p>
            <a:r>
              <a:rPr lang="en-US" dirty="0"/>
              <a:t>What trends can be observed in weekly adult-use cannabis sales, and how do those trends evolve over time?</a:t>
            </a:r>
          </a:p>
          <a:p>
            <a:endParaRPr lang="en-US" dirty="0"/>
          </a:p>
          <a:p>
            <a:r>
              <a:rPr lang="en-US" dirty="0"/>
              <a:t>Can Cannabis sales be associated with any real-world events or holidays?</a:t>
            </a:r>
          </a:p>
          <a:p>
            <a:endParaRPr lang="en-US" dirty="0"/>
          </a:p>
          <a:p>
            <a:r>
              <a:rPr lang="en-US" dirty="0"/>
              <a:t>How do individual weekly fluctuations compare to the overall trend and short-term moving average?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17176E-1C0D-7F2A-2B23-9AB6957E249D}"/>
              </a:ext>
            </a:extLst>
          </p:cNvPr>
          <p:cNvSpPr txBox="1"/>
          <p:nvPr/>
        </p:nvSpPr>
        <p:spPr>
          <a:xfrm>
            <a:off x="3468429" y="501248"/>
            <a:ext cx="52805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Cannabis Retail Sales in Connecticut (2023–2025)</a:t>
            </a:r>
          </a:p>
        </p:txBody>
      </p:sp>
    </p:spTree>
    <p:extLst>
      <p:ext uri="{BB962C8B-B14F-4D97-AF65-F5344CB8AC3E}">
        <p14:creationId xmlns:p14="http://schemas.microsoft.com/office/powerpoint/2010/main" val="149086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52961-B4DC-8D12-838F-B2E6E3EC3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450" y="38038"/>
            <a:ext cx="3114676" cy="466699"/>
          </a:xfrm>
        </p:spPr>
        <p:txBody>
          <a:bodyPr>
            <a:normAutofit fontScale="90000"/>
          </a:bodyPr>
          <a:lstStyle/>
          <a:p>
            <a:r>
              <a:rPr lang="en-US" sz="3400" dirty="0">
                <a:solidFill>
                  <a:srgbClr val="549E39">
                    <a:lumMod val="60000"/>
                    <a:lumOff val="40000"/>
                  </a:srgbClr>
                </a:solidFill>
                <a:latin typeface="Tw Cen MT" panose="020B0602020104020603"/>
              </a:rPr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9C5C8-D1CA-EB12-2A79-0ACE7AD29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4147" y="770000"/>
            <a:ext cx="6276975" cy="1129863"/>
          </a:xfr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1900" b="1" u="sng" dirty="0"/>
              <a:t>Consistent Upward Trend</a:t>
            </a:r>
            <a:endParaRPr lang="en-US" sz="1900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700" dirty="0"/>
              <a:t>Retail sales have </a:t>
            </a:r>
            <a:r>
              <a:rPr lang="en-US" sz="1700" b="1" dirty="0"/>
              <a:t>increased steadily</a:t>
            </a:r>
            <a:r>
              <a:rPr lang="en-US" sz="1700" dirty="0"/>
              <a:t> from January 2023 to April 2025.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 dirty="0"/>
              <a:t>Red Linear trend line depicts </a:t>
            </a:r>
            <a:r>
              <a:rPr lang="en-US" sz="1700" b="1" dirty="0"/>
              <a:t>slow but stable market growth</a:t>
            </a:r>
            <a:r>
              <a:rPr lang="en-US" sz="1700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31D1C7-021B-99F3-FDC3-66051837B9B8}"/>
              </a:ext>
            </a:extLst>
          </p:cNvPr>
          <p:cNvSpPr txBox="1"/>
          <p:nvPr/>
        </p:nvSpPr>
        <p:spPr>
          <a:xfrm>
            <a:off x="2395535" y="369890"/>
            <a:ext cx="6162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Cannabis Retail Sales in Connecticut (2023–2025)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99718-8BA6-07CE-BEF9-99AA7AD0D1D2}"/>
              </a:ext>
            </a:extLst>
          </p:cNvPr>
          <p:cNvSpPr txBox="1"/>
          <p:nvPr/>
        </p:nvSpPr>
        <p:spPr>
          <a:xfrm>
            <a:off x="7651749" y="6550223"/>
            <a:ext cx="4681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chemeClr val="bg2">
                    <a:lumMod val="25000"/>
                    <a:lumOff val="75000"/>
                  </a:schemeClr>
                </a:solidFill>
              </a:rPr>
              <a:t>Visual One - Cannabis_Retail_Sales_by_Week_Ending.csv</a:t>
            </a:r>
            <a:endParaRPr lang="en-US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0EDB94-E656-2256-0DF4-CFBF2C0C1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861" y="870673"/>
            <a:ext cx="2895757" cy="511665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13D41C7-BF7B-5F9E-7773-307CF08643E3}"/>
              </a:ext>
            </a:extLst>
          </p:cNvPr>
          <p:cNvSpPr txBox="1"/>
          <p:nvPr/>
        </p:nvSpPr>
        <p:spPr>
          <a:xfrm>
            <a:off x="3464147" y="2002873"/>
            <a:ext cx="7184803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 dirty="0"/>
              <a:t>Holiday Sales Peaks</a:t>
            </a:r>
            <a:endParaRPr lang="en-US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Mid-to-late December </a:t>
            </a:r>
            <a:r>
              <a:rPr lang="en-US" dirty="0"/>
              <a:t>experiences </a:t>
            </a:r>
            <a:r>
              <a:rPr lang="en-US" b="1" dirty="0"/>
              <a:t>clear spikes</a:t>
            </a:r>
            <a:r>
              <a:rPr lang="en-US" dirty="0"/>
              <a:t> in sales.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Likely tied to </a:t>
            </a:r>
            <a:r>
              <a:rPr lang="en-US" b="1" dirty="0"/>
              <a:t>holiday season activity</a:t>
            </a:r>
            <a:r>
              <a:rPr lang="en-US" dirty="0"/>
              <a:t> — consumers have more time off and may be purchasing for events or gifting.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E3237E-F133-28DD-2EA6-867F78D4147E}"/>
              </a:ext>
            </a:extLst>
          </p:cNvPr>
          <p:cNvSpPr txBox="1"/>
          <p:nvPr/>
        </p:nvSpPr>
        <p:spPr>
          <a:xfrm>
            <a:off x="3464148" y="3306212"/>
            <a:ext cx="7975378" cy="120032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 dirty="0"/>
              <a:t>Mid-Month Spending Sweet Spot</a:t>
            </a:r>
            <a:endParaRPr lang="en-US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First (purple)</a:t>
            </a:r>
            <a:r>
              <a:rPr lang="en-US" dirty="0"/>
              <a:t> and </a:t>
            </a:r>
            <a:r>
              <a:rPr lang="en-US" b="1" dirty="0"/>
              <a:t>last (blue)</a:t>
            </a:r>
            <a:r>
              <a:rPr lang="en-US" dirty="0"/>
              <a:t> weeks of each month show </a:t>
            </a:r>
            <a:r>
              <a:rPr lang="en-US" b="1" dirty="0"/>
              <a:t>lower sales</a:t>
            </a:r>
            <a:r>
              <a:rPr lang="en-US" dirty="0"/>
              <a:t>, even during high-performing months.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may reflect budget constraints like rent, credit cards, and subscription renewals.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0AB81D-F6B7-0E39-C930-33E59C107987}"/>
              </a:ext>
            </a:extLst>
          </p:cNvPr>
          <p:cNvSpPr txBox="1"/>
          <p:nvPr/>
        </p:nvSpPr>
        <p:spPr>
          <a:xfrm>
            <a:off x="3464147" y="4610672"/>
            <a:ext cx="8470992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 dirty="0"/>
              <a:t>Seasonal Strength in August &amp; September</a:t>
            </a:r>
            <a:endParaRPr lang="en-US" u="sng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August and September</a:t>
            </a:r>
            <a:r>
              <a:rPr lang="en-US" dirty="0"/>
              <a:t> consistently show </a:t>
            </a:r>
            <a:r>
              <a:rPr lang="en-US" b="1" dirty="0"/>
              <a:t>elevated sales volumes</a:t>
            </a:r>
            <a:r>
              <a:rPr lang="en-US" dirty="0"/>
              <a:t>, </a:t>
            </a:r>
            <a:r>
              <a:rPr lang="en-US" b="1" dirty="0"/>
              <a:t>excluding first/last week dips</a:t>
            </a:r>
            <a:r>
              <a:rPr lang="en-US" dirty="0"/>
              <a:t>.</a:t>
            </a:r>
          </a:p>
          <a:p>
            <a:r>
              <a:rPr lang="en-US" dirty="0"/>
              <a:t>This might correlate with </a:t>
            </a:r>
            <a:r>
              <a:rPr lang="en-US" b="1" dirty="0"/>
              <a:t>Late summer leisure activity,</a:t>
            </a:r>
            <a:r>
              <a:rPr lang="en-US" dirty="0"/>
              <a:t> </a:t>
            </a:r>
            <a:r>
              <a:rPr lang="en-US" b="1" dirty="0"/>
              <a:t>Back-to-school, </a:t>
            </a:r>
            <a:r>
              <a:rPr lang="en-US" dirty="0"/>
              <a:t>and </a:t>
            </a:r>
            <a:r>
              <a:rPr lang="en-US" b="1" dirty="0"/>
              <a:t>Fewer competing holidays</a:t>
            </a:r>
            <a:r>
              <a:rPr lang="en-US" dirty="0"/>
              <a:t>, allowing cannabis to remain a discretionary spending priority.</a:t>
            </a:r>
          </a:p>
        </p:txBody>
      </p:sp>
    </p:spTree>
    <p:extLst>
      <p:ext uri="{BB962C8B-B14F-4D97-AF65-F5344CB8AC3E}">
        <p14:creationId xmlns:p14="http://schemas.microsoft.com/office/powerpoint/2010/main" val="2620740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2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New Product THC &amp; CBD Potency Over Time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923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BB9B-C708-B670-10BB-BCECC8D6A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5EEF5-A5CD-F6BF-EED3-5C6B0F5E2B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87461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00E7170-A339-0AB8-876F-000E4A6A191C}"/>
              </a:ext>
            </a:extLst>
          </p:cNvPr>
          <p:cNvSpPr txBox="1">
            <a:spLocks/>
          </p:cNvSpPr>
          <p:nvPr/>
        </p:nvSpPr>
        <p:spPr>
          <a:xfrm>
            <a:off x="7173310" y="6545531"/>
            <a:ext cx="5018690" cy="31246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9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7CB54C-5D92-4E09-D5BB-D5F534A51D33}"/>
              </a:ext>
            </a:extLst>
          </p:cNvPr>
          <p:cNvSpPr txBox="1"/>
          <p:nvPr/>
        </p:nvSpPr>
        <p:spPr>
          <a:xfrm>
            <a:off x="374407" y="1003115"/>
            <a:ext cx="5734278" cy="286232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US" b="1" u="sng" dirty="0"/>
              <a:t>What is this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dataset contains chemical composition data for all new marijuana products being legally sold in Connecticut. Specifically, this dataset tracks the levels of </a:t>
            </a:r>
            <a:r>
              <a:rPr lang="en-US" b="1" dirty="0"/>
              <a:t>Tetrahydrocannabinol (THC), Cannabidiols (CBD), Tetrahydrocannabinol acid (THCA), and Carboxylic acids (CBDA) </a:t>
            </a:r>
            <a:r>
              <a:rPr lang="en-US" dirty="0"/>
              <a:t>in new products. Each entry includes a </a:t>
            </a:r>
            <a:r>
              <a:rPr lang="en-US" i="1" dirty="0"/>
              <a:t>recorded date</a:t>
            </a:r>
            <a:r>
              <a:rPr lang="en-US" dirty="0"/>
              <a:t> along with the percentage potency of the chemical in a specific product.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Covers the time period from January 2015 to April 2025.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DD48C4-C1FA-D203-6983-F1F134E062F0}"/>
              </a:ext>
            </a:extLst>
          </p:cNvPr>
          <p:cNvSpPr txBox="1"/>
          <p:nvPr/>
        </p:nvSpPr>
        <p:spPr>
          <a:xfrm>
            <a:off x="6108685" y="3284476"/>
            <a:ext cx="6518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Some of the data in : Cannabis_Brands_with_Chemical_Composition.csv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5F6787-CD74-FAF8-7575-169DECBDE2D6}"/>
              </a:ext>
            </a:extLst>
          </p:cNvPr>
          <p:cNvSpPr txBox="1"/>
          <p:nvPr/>
        </p:nvSpPr>
        <p:spPr>
          <a:xfrm>
            <a:off x="881953" y="4146744"/>
            <a:ext cx="5734278" cy="20313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Motivating Questions:</a:t>
            </a:r>
          </a:p>
          <a:p>
            <a:r>
              <a:rPr lang="en-US" dirty="0"/>
              <a:t>How has the average </a:t>
            </a:r>
            <a:r>
              <a:rPr lang="en-US" sz="1800" dirty="0"/>
              <a:t>Chemical Composition and Potency </a:t>
            </a:r>
            <a:r>
              <a:rPr lang="en-US" dirty="0"/>
              <a:t>levels of newly released marijuana products changed over time?</a:t>
            </a:r>
          </a:p>
          <a:p>
            <a:endParaRPr lang="en-US" dirty="0"/>
          </a:p>
          <a:p>
            <a:r>
              <a:rPr lang="en-US" dirty="0"/>
              <a:t>Can indications of legislation change be seen in a visualization showing new products?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CB06A4-2193-7109-201C-2AE248161CE6}"/>
              </a:ext>
            </a:extLst>
          </p:cNvPr>
          <p:cNvSpPr txBox="1"/>
          <p:nvPr/>
        </p:nvSpPr>
        <p:spPr>
          <a:xfrm>
            <a:off x="2113005" y="467819"/>
            <a:ext cx="87860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Cannabis Product Chemical Composition and Potency in Connecticut (2015–2025)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62247-903F-B948-2664-239BB9FA2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84" y="1017210"/>
            <a:ext cx="5287113" cy="22672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253BC88-631B-71CC-77B7-5A0AF450BF47}"/>
              </a:ext>
            </a:extLst>
          </p:cNvPr>
          <p:cNvSpPr txBox="1"/>
          <p:nvPr/>
        </p:nvSpPr>
        <p:spPr>
          <a:xfrm>
            <a:off x="7123777" y="3865437"/>
            <a:ext cx="3984525" cy="246221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b="1" dirty="0"/>
              <a:t>THC</a:t>
            </a:r>
            <a:r>
              <a:rPr lang="en-US" sz="1400" dirty="0"/>
              <a:t> – Psychoactive; the main compound that causes the “high” feeling.</a:t>
            </a:r>
          </a:p>
          <a:p>
            <a:endParaRPr lang="en-US" sz="1400" dirty="0"/>
          </a:p>
          <a:p>
            <a:r>
              <a:rPr lang="en-US" sz="1400" b="1" dirty="0"/>
              <a:t>CBD</a:t>
            </a:r>
            <a:r>
              <a:rPr lang="en-US" sz="1400" dirty="0"/>
              <a:t> – Non-psychoactive; known for therapeutic effects like reducing anxiety or inflammation.</a:t>
            </a:r>
          </a:p>
          <a:p>
            <a:endParaRPr lang="en-US" sz="1400" dirty="0"/>
          </a:p>
          <a:p>
            <a:r>
              <a:rPr lang="en-US" sz="1400" b="1" dirty="0"/>
              <a:t>THCA</a:t>
            </a:r>
            <a:r>
              <a:rPr lang="en-US" sz="1400" dirty="0"/>
              <a:t> – Non-psychoactive; the raw form of THC found in fresh cannabis, turns into THC when heated.</a:t>
            </a:r>
          </a:p>
          <a:p>
            <a:endParaRPr lang="en-US" sz="1400" dirty="0"/>
          </a:p>
          <a:p>
            <a:r>
              <a:rPr lang="en-US" sz="1400" b="1" dirty="0"/>
              <a:t>CBDA</a:t>
            </a:r>
            <a:r>
              <a:rPr lang="en-US" sz="1400" dirty="0"/>
              <a:t> – Non-psychoactive; the raw form of CBD, also converts to CBD when exposed to heat.</a:t>
            </a:r>
          </a:p>
        </p:txBody>
      </p:sp>
    </p:spTree>
    <p:extLst>
      <p:ext uri="{BB962C8B-B14F-4D97-AF65-F5344CB8AC3E}">
        <p14:creationId xmlns:p14="http://schemas.microsoft.com/office/powerpoint/2010/main" val="196491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4D000-56C7-DF33-8668-AB6CC86B6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7681CAE-8E8E-4DB2-1ACA-9707A298C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71555"/>
            <a:ext cx="11430000" cy="5715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6D3E67F-4535-DC47-9B59-6D5E3B24A24E}"/>
              </a:ext>
            </a:extLst>
          </p:cNvPr>
          <p:cNvSpPr txBox="1"/>
          <p:nvPr/>
        </p:nvSpPr>
        <p:spPr>
          <a:xfrm>
            <a:off x="7449207" y="6486556"/>
            <a:ext cx="4845766" cy="309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2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15B60AE-7905-27BB-3FB6-01BCF9F5B893}"/>
              </a:ext>
            </a:extLst>
          </p:cNvPr>
          <p:cNvSpPr txBox="1"/>
          <p:nvPr/>
        </p:nvSpPr>
        <p:spPr>
          <a:xfrm>
            <a:off x="4677032" y="-78690"/>
            <a:ext cx="302740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Visualization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164B4CAA-7D29-2BB1-7D31-3C0FF5087FC6}"/>
              </a:ext>
            </a:extLst>
          </p:cNvPr>
          <p:cNvSpPr txBox="1"/>
          <p:nvPr/>
        </p:nvSpPr>
        <p:spPr>
          <a:xfrm>
            <a:off x="2821459" y="371445"/>
            <a:ext cx="85591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Cannabis Product Chemical Composition and Potency in Connecticut (2015–2025)</a:t>
            </a:r>
          </a:p>
        </p:txBody>
      </p:sp>
    </p:spTree>
    <p:extLst>
      <p:ext uri="{BB962C8B-B14F-4D97-AF65-F5344CB8AC3E}">
        <p14:creationId xmlns:p14="http://schemas.microsoft.com/office/powerpoint/2010/main" val="3725058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183F0-E5CC-03B6-F070-B42070E3A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1C9F5A3-B7AD-319A-1B1E-8C3F3796B261}"/>
              </a:ext>
            </a:extLst>
          </p:cNvPr>
          <p:cNvSpPr txBox="1"/>
          <p:nvPr/>
        </p:nvSpPr>
        <p:spPr>
          <a:xfrm>
            <a:off x="2077373" y="618022"/>
            <a:ext cx="8484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Cannabis Product Chemical Composition and Potency in Connecticut (2015–2025)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26724-DCB4-2286-4352-B1446DB5ADC1}"/>
              </a:ext>
            </a:extLst>
          </p:cNvPr>
          <p:cNvSpPr txBox="1"/>
          <p:nvPr/>
        </p:nvSpPr>
        <p:spPr>
          <a:xfrm>
            <a:off x="5063158" y="93050"/>
            <a:ext cx="2717988" cy="5693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31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j-ea"/>
                <a:cs typeface="+mj-cs"/>
              </a:rPr>
              <a:t>Observations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D3208C-ACB5-FDEA-93B8-EBB54379D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504" y="1375184"/>
            <a:ext cx="4357554" cy="4610381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447CE5B-9171-5C6F-1E87-05F85A280A7D}"/>
              </a:ext>
            </a:extLst>
          </p:cNvPr>
          <p:cNvSpPr txBox="1"/>
          <p:nvPr/>
        </p:nvSpPr>
        <p:spPr>
          <a:xfrm>
            <a:off x="2077373" y="1383950"/>
            <a:ext cx="4345292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Significant production shift in 2018</a:t>
            </a:r>
            <a:br>
              <a:rPr lang="en-US" dirty="0"/>
            </a:br>
            <a:r>
              <a:rPr lang="en-US" dirty="0"/>
              <a:t>– Likely tied to a </a:t>
            </a:r>
            <a:r>
              <a:rPr lang="en-US" b="1" dirty="0"/>
              <a:t>legal or regulatory change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ADC281-7E4D-6DD5-7575-7EEBA798179C}"/>
              </a:ext>
            </a:extLst>
          </p:cNvPr>
          <p:cNvSpPr txBox="1"/>
          <p:nvPr/>
        </p:nvSpPr>
        <p:spPr>
          <a:xfrm>
            <a:off x="1556951" y="284576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6E24A3-13FC-2709-01D6-42D466623275}"/>
              </a:ext>
            </a:extLst>
          </p:cNvPr>
          <p:cNvSpPr txBox="1"/>
          <p:nvPr/>
        </p:nvSpPr>
        <p:spPr>
          <a:xfrm>
            <a:off x="907456" y="2246996"/>
            <a:ext cx="4496808" cy="64633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No visible impact from COVID-19  in 2020</a:t>
            </a:r>
            <a:br>
              <a:rPr lang="en-US" dirty="0"/>
            </a:br>
            <a:r>
              <a:rPr lang="en-US" dirty="0"/>
              <a:t>– </a:t>
            </a:r>
            <a:r>
              <a:rPr lang="en-US" b="1" dirty="0"/>
              <a:t>New product registrations remained steady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2B0C08-C168-4307-33DC-4E5A24C03DBE}"/>
              </a:ext>
            </a:extLst>
          </p:cNvPr>
          <p:cNvSpPr txBox="1"/>
          <p:nvPr/>
        </p:nvSpPr>
        <p:spPr>
          <a:xfrm>
            <a:off x="1628724" y="3049200"/>
            <a:ext cx="4793428" cy="64633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Overall increase in product submissions</a:t>
            </a:r>
            <a:br>
              <a:rPr lang="en-US" dirty="0"/>
            </a:br>
            <a:r>
              <a:rPr lang="en-US" dirty="0"/>
              <a:t>– Industry shows </a:t>
            </a:r>
            <a:r>
              <a:rPr lang="en-US" b="1" dirty="0"/>
              <a:t>growth and expansion</a:t>
            </a:r>
            <a:r>
              <a:rPr lang="en-US" dirty="0"/>
              <a:t> over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DE86EC-CC2F-24CF-4144-5E94D891D3D6}"/>
              </a:ext>
            </a:extLst>
          </p:cNvPr>
          <p:cNvSpPr txBox="1"/>
          <p:nvPr/>
        </p:nvSpPr>
        <p:spPr>
          <a:xfrm>
            <a:off x="907456" y="3912246"/>
            <a:ext cx="6058133" cy="64633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THC &amp; THCA potency trending upward</a:t>
            </a:r>
            <a:br>
              <a:rPr lang="en-US" dirty="0"/>
            </a:br>
            <a:r>
              <a:rPr lang="en-US" dirty="0"/>
              <a:t>– while </a:t>
            </a:r>
            <a:r>
              <a:rPr lang="en-US" b="1" dirty="0"/>
              <a:t>fewer products</a:t>
            </a:r>
            <a:r>
              <a:rPr lang="en-US" dirty="0"/>
              <a:t>, are registered, potency is </a:t>
            </a:r>
            <a:r>
              <a:rPr lang="en-US" b="1" dirty="0"/>
              <a:t>intensifying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243637-9B1D-D130-E399-356D1DA933E2}"/>
              </a:ext>
            </a:extLst>
          </p:cNvPr>
          <p:cNvSpPr txBox="1"/>
          <p:nvPr/>
        </p:nvSpPr>
        <p:spPr>
          <a:xfrm>
            <a:off x="1910468" y="4836132"/>
            <a:ext cx="4512197" cy="64633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CBD &amp; CBDA potency trending downward</a:t>
            </a:r>
            <a:br>
              <a:rPr lang="en-US" dirty="0"/>
            </a:br>
            <a:r>
              <a:rPr lang="en-US" dirty="0"/>
              <a:t>– Still the </a:t>
            </a:r>
            <a:r>
              <a:rPr lang="en-US" b="1" dirty="0"/>
              <a:t>most commonly registered products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FF9663-A397-FAF7-D428-81506D43D710}"/>
              </a:ext>
            </a:extLst>
          </p:cNvPr>
          <p:cNvSpPr txBox="1"/>
          <p:nvPr/>
        </p:nvSpPr>
        <p:spPr>
          <a:xfrm>
            <a:off x="7464972" y="6550223"/>
            <a:ext cx="481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2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12011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3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Monthly Cannabis Sales Volume by Product Category</a:t>
            </a: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80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F14B0-9442-8295-60E6-4B7222CD7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1AF48-F535-F976-A538-F84A715B76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0BC554-4922-09F4-6CA9-B9E0133B122F}"/>
              </a:ext>
            </a:extLst>
          </p:cNvPr>
          <p:cNvSpPr txBox="1"/>
          <p:nvPr/>
        </p:nvSpPr>
        <p:spPr>
          <a:xfrm>
            <a:off x="304122" y="1169210"/>
            <a:ext cx="9472470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What is this data?</a:t>
            </a:r>
          </a:p>
          <a:p>
            <a:r>
              <a:rPr lang="en-US" dirty="0"/>
              <a:t>This dataset contains </a:t>
            </a:r>
            <a:r>
              <a:rPr lang="en-US" b="1" dirty="0"/>
              <a:t>monthly retail sales totals</a:t>
            </a:r>
            <a:r>
              <a:rPr lang="en-US" dirty="0"/>
              <a:t> for cannabis products in Connecticut, </a:t>
            </a:r>
          </a:p>
          <a:p>
            <a:r>
              <a:rPr lang="en-US" dirty="0"/>
              <a:t>broken down by </a:t>
            </a:r>
            <a:r>
              <a:rPr lang="en-US" b="1" dirty="0"/>
              <a:t>product category</a:t>
            </a:r>
            <a:r>
              <a:rPr lang="en-US" dirty="0"/>
              <a:t> (e.g., flower, edibles, concentrates). Each entry includes the </a:t>
            </a:r>
          </a:p>
          <a:p>
            <a:r>
              <a:rPr lang="en-US" b="1" dirty="0"/>
              <a:t>"Month Ending"</a:t>
            </a:r>
            <a:r>
              <a:rPr lang="en-US" dirty="0"/>
              <a:t> date, the </a:t>
            </a:r>
            <a:r>
              <a:rPr lang="en-US" b="1" dirty="0"/>
              <a:t>product type</a:t>
            </a:r>
            <a:r>
              <a:rPr lang="en-US" dirty="0"/>
              <a:t>, and the </a:t>
            </a:r>
            <a:r>
              <a:rPr lang="en-US" b="1" dirty="0"/>
              <a:t>total dollar amount sold</a:t>
            </a:r>
            <a:r>
              <a:rPr lang="en-US" dirty="0"/>
              <a:t> for that category in that month.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19873-6F4B-0559-8229-87C6BF2C3517}"/>
              </a:ext>
            </a:extLst>
          </p:cNvPr>
          <p:cNvSpPr txBox="1"/>
          <p:nvPr/>
        </p:nvSpPr>
        <p:spPr>
          <a:xfrm>
            <a:off x="613612" y="3109623"/>
            <a:ext cx="4809484" cy="23083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Motivating Questions:</a:t>
            </a:r>
          </a:p>
          <a:p>
            <a:r>
              <a:rPr lang="en-US" dirty="0"/>
              <a:t>How have consumer preferences for different types of cannabis products</a:t>
            </a:r>
            <a:br>
              <a:rPr lang="en-US" dirty="0"/>
            </a:br>
            <a:r>
              <a:rPr lang="en-US" dirty="0"/>
              <a:t>shifted in Connecticut over the past X years?</a:t>
            </a:r>
          </a:p>
          <a:p>
            <a:endParaRPr lang="en-US" dirty="0"/>
          </a:p>
          <a:p>
            <a:r>
              <a:rPr lang="en-US" dirty="0"/>
              <a:t>What is the most popular type of consumer cannabis product?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CD2E2-FC26-A653-A9C9-0E79AE370787}"/>
              </a:ext>
            </a:extLst>
          </p:cNvPr>
          <p:cNvSpPr txBox="1"/>
          <p:nvPr/>
        </p:nvSpPr>
        <p:spPr>
          <a:xfrm>
            <a:off x="3317065" y="452518"/>
            <a:ext cx="64595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prstClr val="white"/>
                </a:solidFill>
                <a:latin typeface="Tw Cen MT" panose="020B0602020104020603"/>
              </a:rPr>
              <a:t>Monthly Cannabis Sales Volume by Product Category</a:t>
            </a:r>
            <a:r>
              <a:rPr lang="en-US" dirty="0">
                <a:solidFill>
                  <a:prstClr val="white"/>
                </a:solidFill>
                <a:latin typeface="Tw Cen MT" panose="020B0602020104020603"/>
              </a:rPr>
              <a:t> (2023-2025)</a:t>
            </a:r>
            <a:endParaRPr lang="en-US" sz="1800" dirty="0">
              <a:solidFill>
                <a:prstClr val="white"/>
              </a:solidFill>
              <a:latin typeface="Tw Cen MT" panose="020B0602020104020603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100510-B520-DA77-7FB8-EADEF6B2EB7A}"/>
              </a:ext>
            </a:extLst>
          </p:cNvPr>
          <p:cNvSpPr txBox="1"/>
          <p:nvPr/>
        </p:nvSpPr>
        <p:spPr>
          <a:xfrm>
            <a:off x="7134363" y="6550223"/>
            <a:ext cx="50738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663759E-4D8F-75DC-6C75-FE8CDA0F9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0217" y="3446920"/>
            <a:ext cx="6220693" cy="12955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5ADB7ED-2781-A45A-EB96-E4A13A78A15C}"/>
              </a:ext>
            </a:extLst>
          </p:cNvPr>
          <p:cNvSpPr txBox="1"/>
          <p:nvPr/>
        </p:nvSpPr>
        <p:spPr>
          <a:xfrm>
            <a:off x="6108685" y="4742501"/>
            <a:ext cx="56868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Some of the data in : Cannabis_Retail_Products_Sold_by_Product_Type.csv</a:t>
            </a:r>
          </a:p>
        </p:txBody>
      </p:sp>
    </p:spTree>
    <p:extLst>
      <p:ext uri="{BB962C8B-B14F-4D97-AF65-F5344CB8AC3E}">
        <p14:creationId xmlns:p14="http://schemas.microsoft.com/office/powerpoint/2010/main" val="3539831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5907C-89F1-9DEB-A0A8-C13E1E44C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193CAD8-BC0C-9A21-6C54-E4F22BD73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3305"/>
            <a:ext cx="12192000" cy="457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042241-B31C-3A77-5C51-2F84865228DD}"/>
              </a:ext>
            </a:extLst>
          </p:cNvPr>
          <p:cNvSpPr txBox="1"/>
          <p:nvPr/>
        </p:nvSpPr>
        <p:spPr>
          <a:xfrm>
            <a:off x="811199" y="5710760"/>
            <a:ext cx="101940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*Other category includes: Pill, Capsule, Non Smokable Infused Extract, Tincture, Marijuana Infused Topicals, Liquid Marijuana RSO, Marijuana Mix Infused, Lozenge*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8E842-BB11-6A9C-F877-F1B2034B1804}"/>
              </a:ext>
            </a:extLst>
          </p:cNvPr>
          <p:cNvSpPr txBox="1"/>
          <p:nvPr/>
        </p:nvSpPr>
        <p:spPr>
          <a:xfrm>
            <a:off x="3996559" y="61851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31BB3-5A61-11F5-F121-0E4BC192E46D}"/>
              </a:ext>
            </a:extLst>
          </p:cNvPr>
          <p:cNvSpPr txBox="1"/>
          <p:nvPr/>
        </p:nvSpPr>
        <p:spPr>
          <a:xfrm>
            <a:off x="2822487" y="543063"/>
            <a:ext cx="6547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prstClr val="white"/>
                </a:solidFill>
                <a:latin typeface="Tw Cen MT" panose="020B0602020104020603"/>
              </a:rPr>
              <a:t>Monthly Cannabis Sales Volume by Product Category </a:t>
            </a:r>
            <a:r>
              <a:rPr lang="en-US" dirty="0">
                <a:solidFill>
                  <a:prstClr val="white"/>
                </a:solidFill>
                <a:latin typeface="Tw Cen MT" panose="020B0602020104020603"/>
              </a:rPr>
              <a:t>(2023-2025)</a:t>
            </a:r>
            <a:endParaRPr lang="en-US" sz="1800" dirty="0">
              <a:solidFill>
                <a:prstClr val="white"/>
              </a:solidFill>
              <a:latin typeface="Tw Cen MT" panose="020B0602020104020603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C701E-9821-66CA-E1C3-0DE5F3C825E7}"/>
              </a:ext>
            </a:extLst>
          </p:cNvPr>
          <p:cNvSpPr txBox="1"/>
          <p:nvPr/>
        </p:nvSpPr>
        <p:spPr>
          <a:xfrm>
            <a:off x="4204860" y="19843"/>
            <a:ext cx="2982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Visualization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D9AD63-5228-43D6-FA72-BF28F316A783}"/>
              </a:ext>
            </a:extLst>
          </p:cNvPr>
          <p:cNvSpPr txBox="1"/>
          <p:nvPr/>
        </p:nvSpPr>
        <p:spPr>
          <a:xfrm>
            <a:off x="7060325" y="6530380"/>
            <a:ext cx="51316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8917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5A297-B44A-FCB5-8F86-631BE51B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C637422-8D19-DEAA-934F-051A4F842775}"/>
              </a:ext>
            </a:extLst>
          </p:cNvPr>
          <p:cNvSpPr txBox="1"/>
          <p:nvPr/>
        </p:nvSpPr>
        <p:spPr>
          <a:xfrm>
            <a:off x="4735417" y="0"/>
            <a:ext cx="2717988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00" b="0" i="0" u="none" strike="noStrike" kern="1200" cap="all" spc="0" normalizeH="0" baseline="0" noProof="0" dirty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Observations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9D8A29-F1B0-1694-01CF-ECD68FA9B0FF}"/>
              </a:ext>
            </a:extLst>
          </p:cNvPr>
          <p:cNvSpPr txBox="1"/>
          <p:nvPr/>
        </p:nvSpPr>
        <p:spPr>
          <a:xfrm>
            <a:off x="2610343" y="447780"/>
            <a:ext cx="7380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prstClr val="white"/>
                </a:solidFill>
                <a:latin typeface="Tw Cen MT" panose="020B0602020104020603"/>
              </a:rPr>
              <a:t>Monthly Cannabis Sales Volume by Product Category (2023-2025)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4EA64F-2A36-96FA-5E11-6E09BE588310}"/>
              </a:ext>
            </a:extLst>
          </p:cNvPr>
          <p:cNvSpPr txBox="1"/>
          <p:nvPr/>
        </p:nvSpPr>
        <p:spPr>
          <a:xfrm>
            <a:off x="7070178" y="6434807"/>
            <a:ext cx="51218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EE9C5E-57D8-E214-36AC-8621DCC9CD0C}"/>
              </a:ext>
            </a:extLst>
          </p:cNvPr>
          <p:cNvSpPr txBox="1"/>
          <p:nvPr/>
        </p:nvSpPr>
        <p:spPr>
          <a:xfrm>
            <a:off x="4928138" y="1453360"/>
            <a:ext cx="6718506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Vape Cartridges</a:t>
            </a:r>
            <a:r>
              <a:rPr lang="en-US" dirty="0"/>
              <a:t> are the most popular product category,</a:t>
            </a:r>
          </a:p>
          <a:p>
            <a:r>
              <a:rPr lang="en-US" dirty="0"/>
              <a:t>Followed by </a:t>
            </a:r>
            <a:r>
              <a:rPr lang="en-US" b="1" dirty="0"/>
              <a:t>Useable Cannabis</a:t>
            </a:r>
            <a:r>
              <a:rPr lang="en-US" dirty="0"/>
              <a:t>, </a:t>
            </a:r>
            <a:r>
              <a:rPr lang="en-US" b="1" dirty="0"/>
              <a:t>Other</a:t>
            </a:r>
            <a:r>
              <a:rPr lang="en-US" dirty="0"/>
              <a:t>, </a:t>
            </a:r>
            <a:r>
              <a:rPr lang="en-US" b="1" dirty="0"/>
              <a:t>Infused Edibles</a:t>
            </a:r>
            <a:r>
              <a:rPr lang="en-US" dirty="0"/>
              <a:t>, and </a:t>
            </a:r>
            <a:r>
              <a:rPr lang="en-US" b="1" dirty="0"/>
              <a:t>Extract for Inhalation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2FF03A-B6FE-251B-A96F-29FB77B9E0C5}"/>
              </a:ext>
            </a:extLst>
          </p:cNvPr>
          <p:cNvSpPr txBox="1"/>
          <p:nvPr/>
        </p:nvSpPr>
        <p:spPr>
          <a:xfrm>
            <a:off x="4928138" y="2804031"/>
            <a:ext cx="4375108" cy="36933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Sales volume has remained stable</a:t>
            </a:r>
            <a:r>
              <a:rPr lang="en-US" dirty="0"/>
              <a:t> over 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4A57-8650-9AD1-D9EE-2DDEDA456DD2}"/>
              </a:ext>
            </a:extLst>
          </p:cNvPr>
          <p:cNvSpPr txBox="1"/>
          <p:nvPr/>
        </p:nvSpPr>
        <p:spPr>
          <a:xfrm>
            <a:off x="4928138" y="3511873"/>
            <a:ext cx="5812745" cy="36933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Product type demand</a:t>
            </a:r>
            <a:r>
              <a:rPr lang="en-US" dirty="0"/>
              <a:t> has shown little variation across months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D5F0A5-AC5B-D9BA-1357-B4FD0D9CC30D}"/>
              </a:ext>
            </a:extLst>
          </p:cNvPr>
          <p:cNvSpPr txBox="1"/>
          <p:nvPr/>
        </p:nvSpPr>
        <p:spPr>
          <a:xfrm>
            <a:off x="4928138" y="4188894"/>
            <a:ext cx="6718506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Noticeable </a:t>
            </a:r>
            <a:r>
              <a:rPr lang="en-US" b="1" dirty="0"/>
              <a:t>sales spikes occur in April and during the holiday season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31C4562-FF15-0C9E-BFA4-518E8C52B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673" y="1215426"/>
            <a:ext cx="3602746" cy="4329402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8885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7459E-E167-5EA9-8CEB-29C8E9F82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4AFA5991-E8F1-BAEE-DE76-55BFEA7207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1" y="-1123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CE97B-82C4-4123-0F3B-84097A8850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Bonus MAP Visual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0787CFC-B94F-5FFA-D0DF-B1F67311F3E8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Cannabis Retail Store Count by Connecticut Zip Code</a:t>
            </a:r>
            <a:endParaRPr lang="en-US" sz="60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77618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4D6EF-DAC5-5C21-881F-A0A59D12D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3FE-BF48-6EDB-D8CB-95463977FD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Bonus Map!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E7F59F-A987-9227-D302-0D52DCC4B159}"/>
              </a:ext>
            </a:extLst>
          </p:cNvPr>
          <p:cNvSpPr txBox="1"/>
          <p:nvPr/>
        </p:nvSpPr>
        <p:spPr>
          <a:xfrm>
            <a:off x="288353" y="1575212"/>
            <a:ext cx="5013434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What is this map?</a:t>
            </a:r>
            <a:endParaRPr lang="en-US" dirty="0"/>
          </a:p>
          <a:p>
            <a:r>
              <a:rPr lang="en-US" dirty="0"/>
              <a:t>This dataset shows </a:t>
            </a:r>
            <a:r>
              <a:rPr lang="en-US" b="1" dirty="0"/>
              <a:t>medical marijuana dispensary licensees in Connecticut</a:t>
            </a:r>
            <a:r>
              <a:rPr lang="en-US" dirty="0"/>
              <a:t>. Geo-spatial shapefile data was used to match ZIP codes with map boundaries.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A72CED-D98D-20CA-B796-971DA8EF82C1}"/>
              </a:ext>
            </a:extLst>
          </p:cNvPr>
          <p:cNvSpPr txBox="1"/>
          <p:nvPr/>
        </p:nvSpPr>
        <p:spPr>
          <a:xfrm>
            <a:off x="288353" y="6438258"/>
            <a:ext cx="4174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Some of the data in : Medical_Marijuana_Dispensary_License.csv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F6CDEB-5DB8-569B-716A-FBE9617F6840}"/>
              </a:ext>
            </a:extLst>
          </p:cNvPr>
          <p:cNvSpPr txBox="1"/>
          <p:nvPr/>
        </p:nvSpPr>
        <p:spPr>
          <a:xfrm>
            <a:off x="288353" y="3527930"/>
            <a:ext cx="5013434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Motivating Questions:</a:t>
            </a:r>
            <a:endParaRPr lang="en-US" dirty="0"/>
          </a:p>
          <a:p>
            <a:r>
              <a:rPr lang="en-US" dirty="0"/>
              <a:t>Where in Connecticut are marijuana licenses concentrated?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E22FFE-D608-4A6F-7C7E-E475A66510D7}"/>
              </a:ext>
            </a:extLst>
          </p:cNvPr>
          <p:cNvSpPr txBox="1"/>
          <p:nvPr/>
        </p:nvSpPr>
        <p:spPr>
          <a:xfrm>
            <a:off x="7882758" y="6550223"/>
            <a:ext cx="43749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Map Visual - Medical_Marijuana_Dispensary_License.csv</a:t>
            </a:r>
            <a:endParaRPr lang="en-US" sz="2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C7EB02-6790-6CB4-AA09-0B53A6266EC7}"/>
              </a:ext>
            </a:extLst>
          </p:cNvPr>
          <p:cNvSpPr txBox="1"/>
          <p:nvPr/>
        </p:nvSpPr>
        <p:spPr>
          <a:xfrm>
            <a:off x="3583371" y="419742"/>
            <a:ext cx="5255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prstClr val="white"/>
                </a:solidFill>
                <a:latin typeface="Tw Cen MT" panose="020B0602020104020603"/>
              </a:rPr>
              <a:t>Cannabis Retail Store Count by Connecticut Zip Code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804532-6B64-AAF5-AAE3-6A0A861A0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01" y="4926650"/>
            <a:ext cx="3361439" cy="14180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7739158-36C1-6AF9-A280-E429105F9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1830" y="1261962"/>
            <a:ext cx="6116119" cy="4892896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9004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4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Medically Endorsed Cannabis Retailers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and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Social Equity Score by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Washington County 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62704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98C535-F6D3-7CA2-453A-03876ED50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560" y="534831"/>
            <a:ext cx="7772400" cy="19244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012A2E-B03A-12B0-4FA0-4E384D3B5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6560" y="2448658"/>
            <a:ext cx="7772400" cy="44093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5887" y="5811842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853" y="1870570"/>
            <a:ext cx="2995147" cy="15160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19105" y="87330"/>
            <a:ext cx="316333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medicallyEndorsedRetailers</a:t>
            </a:r>
            <a:r>
              <a:rPr lang="en-US" sz="1600" dirty="0"/>
              <a:t> TABLES: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9858960" y="5473288"/>
            <a:ext cx="316333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endorsedCounties</a:t>
            </a:r>
            <a:r>
              <a:rPr lang="en-US" sz="1600" dirty="0"/>
              <a:t> TABLE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64542A2-DB07-3208-B3B0-290031D3B3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409" y="708840"/>
            <a:ext cx="1225316" cy="145347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9858960" y="1497039"/>
            <a:ext cx="316333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socialES</a:t>
            </a:r>
            <a:r>
              <a:rPr lang="en-US" sz="1600" dirty="0"/>
              <a:t> TABLE: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AE51C7A-449C-B633-E172-4B4B58B1DB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363" y="2199720"/>
            <a:ext cx="1220362" cy="138753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20276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548" y="5065117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293" y="5030997"/>
            <a:ext cx="2995147" cy="151606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444342" y="4751905"/>
            <a:ext cx="2436745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endorsedCounties</a:t>
            </a:r>
            <a:r>
              <a:rPr lang="en-US" sz="1600" dirty="0"/>
              <a:t> TABLE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2798293" y="4672583"/>
            <a:ext cx="2337405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socialES</a:t>
            </a:r>
            <a:r>
              <a:rPr lang="en-US" sz="1600" dirty="0"/>
              <a:t> TABLE: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12B5E0-105A-FBCD-304B-230AB4DC32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6282" y="598251"/>
            <a:ext cx="5544805" cy="16458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76BB7-0B13-6DBD-3A7B-B3E0F46852E2}"/>
              </a:ext>
            </a:extLst>
          </p:cNvPr>
          <p:cNvSpPr txBox="1"/>
          <p:nvPr/>
        </p:nvSpPr>
        <p:spPr>
          <a:xfrm>
            <a:off x="5708588" y="5604362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Merge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DD4076-C2A6-6096-F86F-4C8A739FC904}"/>
              </a:ext>
            </a:extLst>
          </p:cNvPr>
          <p:cNvCxnSpPr>
            <a:cxnSpLocks/>
          </p:cNvCxnSpPr>
          <p:nvPr/>
        </p:nvCxnSpPr>
        <p:spPr>
          <a:xfrm flipH="1">
            <a:off x="5793440" y="5973694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B3C2133-EAB3-AAA9-A405-0AA3FB21ACD1}"/>
              </a:ext>
            </a:extLst>
          </p:cNvPr>
          <p:cNvSpPr txBox="1"/>
          <p:nvPr/>
        </p:nvSpPr>
        <p:spPr>
          <a:xfrm>
            <a:off x="2720629" y="2263840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county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3B4A636-7C02-6F9E-AEF4-21AA150E13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2438" y="2336978"/>
            <a:ext cx="3965044" cy="241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5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24491" y="4949300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Social Equity Score &lt;= 100, then </a:t>
            </a:r>
            <a:r>
              <a:rPr lang="en-US" sz="1600" dirty="0">
                <a:solidFill>
                  <a:schemeClr val="accent6"/>
                </a:solidFill>
              </a:rPr>
              <a:t>green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461D9C-311F-7AE6-ED17-3D1B7386F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703409"/>
            <a:ext cx="7772400" cy="31622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1D0D30-6A41-52C8-1245-1E5B564E89AF}"/>
              </a:ext>
            </a:extLst>
          </p:cNvPr>
          <p:cNvSpPr txBox="1"/>
          <p:nvPr/>
        </p:nvSpPr>
        <p:spPr>
          <a:xfrm>
            <a:off x="624491" y="5322628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Social Equity Score &lt;= 200, then </a:t>
            </a:r>
            <a:r>
              <a:rPr lang="en-US" sz="1600" dirty="0">
                <a:solidFill>
                  <a:srgbClr val="FFC000"/>
                </a:solidFill>
              </a:rPr>
              <a:t>yellow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624491" y="5703236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Else </a:t>
            </a:r>
            <a:r>
              <a:rPr lang="en-US" sz="1600" dirty="0">
                <a:solidFill>
                  <a:srgbClr val="FF0000"/>
                </a:solidFill>
              </a:rPr>
              <a:t>red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036" y="4419430"/>
            <a:ext cx="3965044" cy="241280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5E79889-250A-2A6A-2278-C2EA1D0D8FD3}"/>
              </a:ext>
            </a:extLst>
          </p:cNvPr>
          <p:cNvSpPr txBox="1"/>
          <p:nvPr/>
        </p:nvSpPr>
        <p:spPr>
          <a:xfrm>
            <a:off x="624491" y="4569051"/>
            <a:ext cx="54841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b="1" dirty="0"/>
              <a:t>Social Equity Score </a:t>
            </a:r>
            <a:r>
              <a:rPr lang="en-US" dirty="0"/>
              <a:t>= </a:t>
            </a:r>
            <a:r>
              <a:rPr lang="en-US" sz="1400" dirty="0" err="1"/>
              <a:t>mergedCountiesTables</a:t>
            </a:r>
            <a:r>
              <a:rPr lang="en-US" sz="1400" dirty="0"/>
              <a:t>[</a:t>
            </a:r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‘Lowest Score’]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7B3C8E-1548-F694-3F58-8EA7ECBF914B}"/>
              </a:ext>
            </a:extLst>
          </p:cNvPr>
          <p:cNvSpPr txBox="1"/>
          <p:nvPr/>
        </p:nvSpPr>
        <p:spPr>
          <a:xfrm>
            <a:off x="6200036" y="4091658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mergedCountiesTables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4040239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9171083" y="2358442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mergedCountiesTables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320" y="2696996"/>
            <a:ext cx="3644680" cy="2217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C6DC999-D3F9-8685-F2EA-74C4AE46D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674" y="514717"/>
            <a:ext cx="6818872" cy="4400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6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Medically Endorsed Cannabis Retailers and Social Equity Score by Washington County</a:t>
            </a:r>
            <a:endParaRPr lang="en-US" sz="60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154764"/>
            <a:ext cx="2903625" cy="369331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King County has the most Facilities which relates to later Sales/Tax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are some counties including Adams County that have 0 Medically Endorsed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 with Low Equity scores many counties have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9457D9-2C66-30B5-4D7A-A412ABABD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625" y="604729"/>
            <a:ext cx="7222656" cy="56298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A29529-86E6-36AB-A079-81B992386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6" y="5402081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73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5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Washington Counties: </a:t>
            </a:r>
          </a:p>
          <a:p>
            <a:pPr algn="ctr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Police Activity and Social Equity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9610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00545" y="921607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111593" y="4814503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washingtonCounties</a:t>
            </a:r>
            <a:r>
              <a:rPr lang="en-US" sz="1600">
                <a:solidFill>
                  <a:schemeClr val="accent6">
                    <a:lumMod val="60000"/>
                    <a:lumOff val="40000"/>
                  </a:schemeClr>
                </a:solidFill>
              </a:rPr>
              <a:t>[‘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County</a:t>
            </a:r>
            <a:r>
              <a:rPr lang="en-US" sz="1600">
                <a:solidFill>
                  <a:schemeClr val="accent6">
                    <a:lumMod val="60000"/>
                    <a:lumOff val="40000"/>
                  </a:schemeClr>
                </a:solidFill>
              </a:rPr>
              <a:t>’] </a:t>
            </a:r>
            <a:r>
              <a:rPr lang="en-US" sz="1600" dirty="0"/>
              <a:t>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651D0-6040-AD97-B4FD-CEAC329F6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693" y="598251"/>
            <a:ext cx="8364710" cy="39565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A85DEE-5096-E500-CE6A-B51D1849E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19" y="5153057"/>
            <a:ext cx="1301526" cy="14786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D4D862-F423-14C8-FCF1-2A2BE67A7D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9060" y="5153057"/>
            <a:ext cx="994415" cy="15666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56D390-5B0C-D336-B0F6-95CBD6C72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820" y="5203036"/>
            <a:ext cx="5308107" cy="14667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3997793" y="4864482"/>
            <a:ext cx="4790964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mergedEnforcementCounties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 after </a:t>
            </a:r>
            <a:r>
              <a:rPr lang="en-US" sz="1600" err="1">
                <a:solidFill>
                  <a:srgbClr val="FFC000"/>
                </a:solidFill>
              </a:rPr>
              <a:t>np.where</a:t>
            </a:r>
            <a:r>
              <a:rPr lang="en-US" sz="1600">
                <a:solidFill>
                  <a:srgbClr val="FFC000"/>
                </a:solidFill>
              </a:rPr>
              <a:t>():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64F9EB-D7C4-7EEE-A57B-9A35D797E690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1459745" y="5892359"/>
            <a:ext cx="339315" cy="4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90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32AE8BA1-ADA9-9E94-9ADA-AEDA7D967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853" y="4461159"/>
            <a:ext cx="5529072" cy="11960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8752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2087520" y="4148210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mergedEnforcementData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6551289" y="3043778"/>
            <a:ext cx="4790964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mergedMapData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ADF388-5EB6-CE66-C742-49477E24C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9259"/>
            <a:ext cx="6172960" cy="33857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5679CC-0793-429B-1971-C373BA42D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657216"/>
            <a:ext cx="4462765" cy="12097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235813-00AE-27AB-4F1F-1B1518DB82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9824" y="5657217"/>
            <a:ext cx="6742176" cy="121071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C893B92-2219-F36A-09C8-F678953C0E17}"/>
              </a:ext>
            </a:extLst>
          </p:cNvPr>
          <p:cNvSpPr txBox="1"/>
          <p:nvPr/>
        </p:nvSpPr>
        <p:spPr>
          <a:xfrm>
            <a:off x="4462765" y="5995770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Merge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33E2D9-4871-7C60-0440-E46ADFFB6432}"/>
              </a:ext>
            </a:extLst>
          </p:cNvPr>
          <p:cNvCxnSpPr>
            <a:cxnSpLocks/>
          </p:cNvCxnSpPr>
          <p:nvPr/>
        </p:nvCxnSpPr>
        <p:spPr>
          <a:xfrm flipH="1">
            <a:off x="4547617" y="6365102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C3069898-81B0-DEFF-5BAB-A894F08E2A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0515" y="5678656"/>
            <a:ext cx="5651485" cy="120536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EC91676-572A-E289-FEA2-089A7FFEF91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43637" y="2016282"/>
            <a:ext cx="2422400" cy="131984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6D849EF-1CE4-1A1A-33DF-0E5B70BBA4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4509" y="910296"/>
            <a:ext cx="5997491" cy="10769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BAC41D6-B84F-B382-4829-8EB79F37CA1B}"/>
              </a:ext>
            </a:extLst>
          </p:cNvPr>
          <p:cNvSpPr txBox="1"/>
          <p:nvPr/>
        </p:nvSpPr>
        <p:spPr>
          <a:xfrm rot="19824152">
            <a:off x="10162302" y="1347287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</a:t>
            </a:r>
            <a:r>
              <a:rPr lang="en-US"/>
              <a:t>Merge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20F68F-345D-1DD1-3B83-B072BE31CF26}"/>
              </a:ext>
            </a:extLst>
          </p:cNvPr>
          <p:cNvCxnSpPr>
            <a:cxnSpLocks/>
          </p:cNvCxnSpPr>
          <p:nvPr/>
        </p:nvCxnSpPr>
        <p:spPr>
          <a:xfrm flipV="1">
            <a:off x="10290048" y="1083100"/>
            <a:ext cx="1483654" cy="9583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2FA35168-1CAD-7B76-AFD9-18943ABE7A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9810" y="3375490"/>
            <a:ext cx="4532582" cy="1068349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E2DCE0-A57F-9640-E999-2B757EA2CF4B}"/>
              </a:ext>
            </a:extLst>
          </p:cNvPr>
          <p:cNvCxnSpPr>
            <a:cxnSpLocks/>
          </p:cNvCxnSpPr>
          <p:nvPr/>
        </p:nvCxnSpPr>
        <p:spPr>
          <a:xfrm>
            <a:off x="6540515" y="2026649"/>
            <a:ext cx="2933560" cy="1309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580B2D4-4868-168D-6661-5E1B0B2027A0}"/>
              </a:ext>
            </a:extLst>
          </p:cNvPr>
          <p:cNvCxnSpPr>
            <a:cxnSpLocks/>
          </p:cNvCxnSpPr>
          <p:nvPr/>
        </p:nvCxnSpPr>
        <p:spPr>
          <a:xfrm flipV="1">
            <a:off x="524256" y="4607944"/>
            <a:ext cx="861597" cy="10492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388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3451419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</a:t>
            </a:r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/</a:t>
            </a:r>
          </a:p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Implementation: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C94A78-13DA-CF3F-4219-CC5D4A1D0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569712"/>
            <a:ext cx="7772400" cy="37071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E9873D-8F6D-5A31-1944-2E5C5251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80" y="4275892"/>
            <a:ext cx="10759299" cy="4930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8C91E-A43E-B2A6-4DBC-F8AB7841068C}"/>
              </a:ext>
            </a:extLst>
          </p:cNvPr>
          <p:cNvSpPr txBox="1"/>
          <p:nvPr/>
        </p:nvSpPr>
        <p:spPr>
          <a:xfrm>
            <a:off x="633680" y="4741392"/>
            <a:ext cx="10283584" cy="203132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Using the axis’s .</a:t>
            </a:r>
            <a:r>
              <a:rPr lang="en-US" dirty="0" err="1"/>
              <a:t>add_artist</a:t>
            </a:r>
            <a:r>
              <a:rPr lang="en-US" dirty="0"/>
              <a:t>() attribute with a Lambda function.</a:t>
            </a:r>
          </a:p>
          <a:p>
            <a:r>
              <a:rPr lang="en-US" dirty="0"/>
              <a:t>Each artist is a </a:t>
            </a:r>
            <a:r>
              <a:rPr lang="en-US" dirty="0" err="1"/>
              <a:t>OffsetImage</a:t>
            </a:r>
            <a:r>
              <a:rPr lang="en-US" dirty="0"/>
              <a:t> inside a </a:t>
            </a:r>
            <a:r>
              <a:rPr lang="en-US" dirty="0" err="1"/>
              <a:t>AnnotationBbox</a:t>
            </a:r>
            <a:r>
              <a:rPr lang="en-US" dirty="0"/>
              <a:t> both imported from </a:t>
            </a:r>
            <a:r>
              <a:rPr lang="en-US" dirty="0" err="1"/>
              <a:t>matplotlib.offsetbox</a:t>
            </a:r>
            <a:r>
              <a:rPr lang="en-US" dirty="0"/>
              <a:t> library.</a:t>
            </a:r>
          </a:p>
          <a:p>
            <a:r>
              <a:rPr lang="en-US" dirty="0"/>
              <a:t>Zoom is controlled by the current </a:t>
            </a:r>
            <a:r>
              <a:rPr lang="en-US" dirty="0" err="1"/>
              <a:t>totalCount</a:t>
            </a:r>
            <a:r>
              <a:rPr lang="en-US" dirty="0"/>
              <a:t> variable in </a:t>
            </a:r>
            <a:r>
              <a:rPr lang="en-US" dirty="0" err="1"/>
              <a:t>mergedMapData</a:t>
            </a:r>
            <a:r>
              <a:rPr lang="en-US" dirty="0"/>
              <a:t> </a:t>
            </a:r>
            <a:r>
              <a:rPr lang="en-US" dirty="0" err="1"/>
              <a:t>DataFrame</a:t>
            </a:r>
            <a:r>
              <a:rPr lang="en-US" dirty="0"/>
              <a:t>.</a:t>
            </a:r>
          </a:p>
          <a:p>
            <a:r>
              <a:rPr lang="en-US" dirty="0"/>
              <a:t>	- if </a:t>
            </a:r>
            <a:r>
              <a:rPr lang="en-US" dirty="0" err="1"/>
              <a:t>pd.notna</a:t>
            </a:r>
            <a:r>
              <a:rPr lang="en-US" dirty="0"/>
              <a:t>(</a:t>
            </a:r>
            <a:r>
              <a:rPr lang="en-US" dirty="0" err="1"/>
              <a:t>x.totalCount</a:t>
            </a:r>
            <a:r>
              <a:rPr lang="en-US" dirty="0"/>
              <a:t>) then Zoom= 0.0009 * </a:t>
            </a:r>
            <a:r>
              <a:rPr lang="en-US" dirty="0" err="1"/>
              <a:t>x.totalCount</a:t>
            </a:r>
            <a:endParaRPr lang="en-US" dirty="0"/>
          </a:p>
          <a:p>
            <a:r>
              <a:rPr lang="en-US" dirty="0"/>
              <a:t>	- else Zoom=0.02</a:t>
            </a:r>
          </a:p>
          <a:p>
            <a:r>
              <a:rPr lang="en-US" dirty="0" err="1"/>
              <a:t>xy</a:t>
            </a:r>
            <a:r>
              <a:rPr lang="en-US" dirty="0"/>
              <a:t> = ( x =  centroid of x coord, (y = centroid of y coord – 0.1) ) and no frame. </a:t>
            </a:r>
          </a:p>
          <a:p>
            <a:r>
              <a:rPr lang="en-US" dirty="0"/>
              <a:t>	- Subtracting -0.1 from y centroid to move </a:t>
            </a:r>
            <a:r>
              <a:rPr lang="en-US" dirty="0" err="1"/>
              <a:t>policeBadge.png</a:t>
            </a:r>
            <a:r>
              <a:rPr lang="en-US" dirty="0"/>
              <a:t> under text</a:t>
            </a:r>
          </a:p>
        </p:txBody>
      </p:sp>
    </p:spTree>
    <p:extLst>
      <p:ext uri="{BB962C8B-B14F-4D97-AF65-F5344CB8AC3E}">
        <p14:creationId xmlns:p14="http://schemas.microsoft.com/office/powerpoint/2010/main" val="13617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Washington Counties: </a:t>
            </a:r>
          </a:p>
          <a:p>
            <a:pPr algn="ctr"/>
            <a:r>
              <a:rPr lang="en-US" sz="3600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011889"/>
            <a:ext cx="2754536" cy="535531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Cannabis related enforcement is very prevalent in Clark, Kitsap, and King county.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Moderate amount in Pierce, Grant, Adams, and Pend </a:t>
            </a:r>
            <a:r>
              <a:rPr lang="en-US" dirty="0" err="1"/>
              <a:t>Orelle</a:t>
            </a:r>
            <a:r>
              <a:rPr lang="en-US" dirty="0"/>
              <a:t> Counties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Yakima, Walla Walla, Franklin counties have a high social equity score but low cannabis related police activity.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Gives idea on what counties to focus on helping.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109756-98F9-81B4-1DA6-C52F7895D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849" y="604729"/>
            <a:ext cx="7772400" cy="52548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05369C-C165-2E70-F147-E7AD72FCA8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605" y="5510964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88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6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Total Cannabis </a:t>
            </a:r>
            <a:r>
              <a:rPr lang="en-US" sz="3200" b="0" dirty="0">
                <a:solidFill>
                  <a:srgbClr val="A5BCEB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Related</a:t>
            </a:r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Sales in Washington </a:t>
            </a:r>
          </a:p>
          <a:p>
            <a:pPr algn="ctr"/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by County/Year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50958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-74851" y="716692"/>
            <a:ext cx="323818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rgbClr val="D300D6"/>
                </a:solidFill>
              </a:rPr>
              <a:t>Pandas </a:t>
            </a:r>
            <a:r>
              <a:rPr lang="en-US" sz="1600" err="1">
                <a:solidFill>
                  <a:srgbClr val="D300D6"/>
                </a:solidFill>
              </a:rPr>
              <a:t>Dataframe</a:t>
            </a:r>
            <a:r>
              <a:rPr lang="en-US" sz="1600">
                <a:solidFill>
                  <a:srgbClr val="D300D6"/>
                </a:solidFill>
              </a:rPr>
              <a:t> </a:t>
            </a:r>
            <a:r>
              <a:rPr lang="en-US" sz="1600" dirty="0"/>
              <a:t>TABLE format: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95FA12-C967-E982-025C-756392AE1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286" y="604729"/>
            <a:ext cx="5677427" cy="13242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ADF6E8-A6AC-1D7E-2159-14829C30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1928933"/>
            <a:ext cx="7772400" cy="492906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1918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713231" y="4606913"/>
            <a:ext cx="323818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err="1">
                <a:solidFill>
                  <a:srgbClr val="D300D6"/>
                </a:solidFill>
              </a:rPr>
              <a:t>totalDF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B798A9-AE5F-E17D-5825-5DE9B5C5E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621" y="604729"/>
            <a:ext cx="7880379" cy="356673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C9D7E57-319E-0500-B4F6-7C4A2CB8B58D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332322" y="2942336"/>
            <a:ext cx="2155814" cy="16645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777A3EF-BEB0-CC6C-8E15-90E08EB3E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403" y="4953595"/>
            <a:ext cx="2857094" cy="1718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328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9422954" y="1930845"/>
            <a:ext cx="323818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D300D6"/>
                </a:solidFill>
              </a:rPr>
              <a:t>topCounties2018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2F3D9-3858-2192-5459-D125A809A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84" y="907977"/>
            <a:ext cx="7772400" cy="56486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431064-3468-7D69-F444-6AE4F32E5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864" y="2269399"/>
            <a:ext cx="5606193" cy="115960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041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235200" y="5066955"/>
            <a:ext cx="286899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D300D6"/>
                </a:solidFill>
              </a:rPr>
              <a:t>topTaxCounties1819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30F88EC-2739-1445-7A57-3646C090C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6274"/>
            <a:ext cx="7772400" cy="43334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20770B-6481-0B59-E73A-3E483A8DD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5405509"/>
            <a:ext cx="5006428" cy="132957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919D816-091C-1D1E-DA86-8F933F5EEF78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3436883" y="3121572"/>
            <a:ext cx="232816" cy="19453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98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</a:t>
            </a:r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/</a:t>
            </a:r>
          </a:p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4570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/>
              <a:t>subplots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62BA66-2597-2AD5-1824-FC41D227F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2000" y="5261006"/>
            <a:ext cx="3048000" cy="914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7A650E-136E-FC2C-E38C-935CCEABF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1566" y="5326872"/>
            <a:ext cx="3006639" cy="7880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348D3-BC69-B435-835E-EBD10E7B439D}"/>
              </a:ext>
            </a:extLst>
          </p:cNvPr>
          <p:cNvSpPr txBox="1"/>
          <p:nvPr/>
        </p:nvSpPr>
        <p:spPr>
          <a:xfrm>
            <a:off x="63432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 err="1"/>
              <a:t>subplots_adjust</a:t>
            </a:r>
            <a:endParaRPr lang="en-US" sz="16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8ACE4C7-B1EE-3BB0-8A1B-A86EC5CED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0" y="588653"/>
            <a:ext cx="7772400" cy="446991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B4D6E-77F5-8E7A-C91A-070DB410AF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3305" y="1778135"/>
            <a:ext cx="711200" cy="304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F8EE8A8-EB4A-D8E8-30F2-80B67A2F27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3304" y="2149571"/>
            <a:ext cx="711201" cy="3333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EA98DB7-B4CF-283D-C93E-68FF0BE9E9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13304" y="2570310"/>
            <a:ext cx="732325" cy="26980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9946725" y="1362637"/>
            <a:ext cx="226974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First Row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A4B6580-5AF4-0DD0-E3FC-E7E3C26E55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9055" y="6316410"/>
            <a:ext cx="7772400" cy="31563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4B4286E-0D43-E9CC-4239-AC687C2D00CF}"/>
              </a:ext>
            </a:extLst>
          </p:cNvPr>
          <p:cNvSpPr txBox="1"/>
          <p:nvPr/>
        </p:nvSpPr>
        <p:spPr>
          <a:xfrm>
            <a:off x="-454275" y="6293486"/>
            <a:ext cx="30480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 err="1"/>
              <a:t>FuncFormatter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20018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4357858" y="5091656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Normalization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-191934" y="208598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Second Row</a:t>
            </a: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D97908-B457-BE9A-5367-D3614C91B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560118"/>
            <a:ext cx="7772400" cy="435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80D831-9FA6-BBB9-0DCE-C1B07FC5F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773" y="655273"/>
            <a:ext cx="763935" cy="2745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3703ED-B978-18AB-D0C2-39B970F68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317" y="999052"/>
            <a:ext cx="773391" cy="2812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6D432-B4A5-BD17-E946-8BACE2CBAA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317" y="1333797"/>
            <a:ext cx="794789" cy="2812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2D07A6-4950-43AF-F53C-ED21A6A87C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2173" y="5455094"/>
            <a:ext cx="3314700" cy="330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F2EFB4-E551-C350-E9C4-F21ACFDFE4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8384" y="6344839"/>
            <a:ext cx="7772400" cy="23702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B02002-E32A-2A67-F847-6AA0FB5A5301}"/>
              </a:ext>
            </a:extLst>
          </p:cNvPr>
          <p:cNvSpPr txBox="1"/>
          <p:nvPr/>
        </p:nvSpPr>
        <p:spPr>
          <a:xfrm>
            <a:off x="4282173" y="5959328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Bar(</a:t>
            </a:r>
            <a:r>
              <a:rPr lang="en-US" sz="1600" err="1">
                <a:solidFill>
                  <a:srgbClr val="FFC000"/>
                </a:solidFill>
              </a:rPr>
              <a:t>x,y,data</a:t>
            </a:r>
            <a:r>
              <a:rPr lang="en-US" sz="1600">
                <a:solidFill>
                  <a:srgbClr val="FFC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8082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55F6CF-441E-90B8-4FC1-477F5055F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8422" y="604153"/>
            <a:ext cx="6240526" cy="62544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142313" y="653015"/>
            <a:ext cx="2754536" cy="369331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Effect during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Slow Fall off after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King County plays big part in the economics of cannabis.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Tax Income increased 20 million in King County Alone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Total Sales in Washington reached almost 3 Billion</a:t>
            </a:r>
          </a:p>
        </p:txBody>
      </p:sp>
    </p:spTree>
    <p:extLst>
      <p:ext uri="{BB962C8B-B14F-4D97-AF65-F5344CB8AC3E}">
        <p14:creationId xmlns:p14="http://schemas.microsoft.com/office/powerpoint/2010/main" val="311642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DB4C-EDD2-8A58-A844-8E2C21C24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3859" y="3059357"/>
            <a:ext cx="2724281" cy="73928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Thank you!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7146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83B83911A246E4DB19D4021EC5D1FEE" ma:contentTypeVersion="12" ma:contentTypeDescription="Create a new document." ma:contentTypeScope="" ma:versionID="9a61408d3f860164ba4e7f7ee7e964a8">
  <xsd:schema xmlns:xsd="http://www.w3.org/2001/XMLSchema" xmlns:xs="http://www.w3.org/2001/XMLSchema" xmlns:p="http://schemas.microsoft.com/office/2006/metadata/properties" xmlns:ns3="ca4450c1-f494-41f2-ac90-0c0f3c135c48" targetNamespace="http://schemas.microsoft.com/office/2006/metadata/properties" ma:root="true" ma:fieldsID="3194c6ff9898d6c5fb6717317724ce59" ns3:_="">
    <xsd:import namespace="ca4450c1-f494-41f2-ac90-0c0f3c135c4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ystemTags" minOccurs="0"/>
                <xsd:element ref="ns3:MediaLengthInSeconds" minOccurs="0"/>
                <xsd:element ref="ns3:_activity" minOccurs="0"/>
                <xsd:element ref="ns3:MediaServiceSearchPropertie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4450c1-f494-41f2-ac90-0c0f3c135c4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a4450c1-f494-41f2-ac90-0c0f3c135c48" xsi:nil="true"/>
  </documentManagement>
</p:properties>
</file>

<file path=customXml/itemProps1.xml><?xml version="1.0" encoding="utf-8"?>
<ds:datastoreItem xmlns:ds="http://schemas.openxmlformats.org/officeDocument/2006/customXml" ds:itemID="{12922CBB-2E6B-461D-9E18-EFF815CCE01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a4450c1-f494-41f2-ac90-0c0f3c135c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CDFFDD5-C653-40B8-BB8E-B7901227B6D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736BD37-5634-4653-9A7C-61EBEB728089}">
  <ds:schemaRefs>
    <ds:schemaRef ds:uri="http://purl.org/dc/terms/"/>
    <ds:schemaRef ds:uri="http://schemas.openxmlformats.org/package/2006/metadata/core-properties"/>
    <ds:schemaRef ds:uri="http://www.w3.org/XML/1998/namespace"/>
    <ds:schemaRef ds:uri="http://purl.org/dc/dcmitype/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ca4450c1-f494-41f2-ac90-0c0f3c135c4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1320</TotalTime>
  <Words>1901</Words>
  <Application>Microsoft Office PowerPoint</Application>
  <PresentationFormat>Widescreen</PresentationFormat>
  <Paragraphs>261</Paragraphs>
  <Slides>36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Arial</vt:lpstr>
      <vt:lpstr>Calibri</vt:lpstr>
      <vt:lpstr>Tw Cen MT</vt:lpstr>
      <vt:lpstr>Circuit</vt:lpstr>
      <vt:lpstr>CS445 Final Project Group 2 – Green Data Trees </vt:lpstr>
      <vt:lpstr>About Us and our Project</vt:lpstr>
      <vt:lpstr>Technologies utilized</vt:lpstr>
      <vt:lpstr>Visual 1 Alex Boyce  </vt:lpstr>
      <vt:lpstr>About the Data</vt:lpstr>
      <vt:lpstr>Observations</vt:lpstr>
      <vt:lpstr>Visual 2 Alex Boyce  </vt:lpstr>
      <vt:lpstr>About the Data</vt:lpstr>
      <vt:lpstr>PowerPoint Presentation</vt:lpstr>
      <vt:lpstr>PowerPoint Presentation</vt:lpstr>
      <vt:lpstr>Visual 3 Alex Boyce  </vt:lpstr>
      <vt:lpstr>About the Data</vt:lpstr>
      <vt:lpstr>PowerPoint Presentation</vt:lpstr>
      <vt:lpstr>PowerPoint Presentation</vt:lpstr>
      <vt:lpstr>Bonus MAP Visual Alex Boyce  </vt:lpstr>
      <vt:lpstr>Bonus Map!</vt:lpstr>
      <vt:lpstr>Visual 4 Kyle Dennewith  </vt:lpstr>
      <vt:lpstr>METHODOLOGY</vt:lpstr>
      <vt:lpstr>METHODOLOGY</vt:lpstr>
      <vt:lpstr>METHODOLOGY</vt:lpstr>
      <vt:lpstr>METHODOLOGY</vt:lpstr>
      <vt:lpstr>VISUAL</vt:lpstr>
      <vt:lpstr>Visual 5 Kyle Dennewith  </vt:lpstr>
      <vt:lpstr>METHODOLOGY</vt:lpstr>
      <vt:lpstr>METHODOLOGY</vt:lpstr>
      <vt:lpstr>METHODOLOGY</vt:lpstr>
      <vt:lpstr>VISUAL</vt:lpstr>
      <vt:lpstr>Visual 6 Kyle Dennewith  </vt:lpstr>
      <vt:lpstr>METHODOLOGY</vt:lpstr>
      <vt:lpstr>METHODOLOGY</vt:lpstr>
      <vt:lpstr>METHODOLOGY</vt:lpstr>
      <vt:lpstr>METHODOLOGY</vt:lpstr>
      <vt:lpstr>METHODOLOGY</vt:lpstr>
      <vt:lpstr>METHODOLOGY</vt:lpstr>
      <vt:lpstr>VISUAL</vt:lpstr>
      <vt:lpstr>Thank you!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Dennewith</dc:creator>
  <cp:lastModifiedBy>Alex Boyce</cp:lastModifiedBy>
  <cp:revision>6</cp:revision>
  <dcterms:created xsi:type="dcterms:W3CDTF">2025-05-31T05:22:09Z</dcterms:created>
  <dcterms:modified xsi:type="dcterms:W3CDTF">2025-06-03T23:54:19Z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0x010100C83B83911A246E4DB19D4021EC5D1FEE</vt:lpwstr>
  </property>
</Properties>
</file>