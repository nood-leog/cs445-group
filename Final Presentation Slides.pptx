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66" r:id="rId1"/>
  </p:sldMasterIdLst>
  <p:notesMasterIdLst>
    <p:notesMasterId r:id="rId43"/>
  </p:notesMasterIdLst>
  <p:sldIdLst>
    <p:sldId id="289" r:id="rId2"/>
    <p:sldId id="286" r:id="rId3"/>
    <p:sldId id="301" r:id="rId4"/>
    <p:sldId id="280" r:id="rId5"/>
    <p:sldId id="281" r:id="rId6"/>
    <p:sldId id="288" r:id="rId7"/>
    <p:sldId id="279" r:id="rId8"/>
    <p:sldId id="300" r:id="rId9"/>
    <p:sldId id="291" r:id="rId10"/>
    <p:sldId id="292" r:id="rId11"/>
    <p:sldId id="278" r:id="rId12"/>
    <p:sldId id="295" r:id="rId13"/>
    <p:sldId id="294" r:id="rId14"/>
    <p:sldId id="293" r:id="rId15"/>
    <p:sldId id="284" r:id="rId16"/>
    <p:sldId id="297" r:id="rId17"/>
    <p:sldId id="256" r:id="rId18"/>
    <p:sldId id="258" r:id="rId19"/>
    <p:sldId id="304" r:id="rId20"/>
    <p:sldId id="306" r:id="rId21"/>
    <p:sldId id="305" r:id="rId22"/>
    <p:sldId id="303" r:id="rId23"/>
    <p:sldId id="267" r:id="rId24"/>
    <p:sldId id="268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69" r:id="rId33"/>
    <p:sldId id="259" r:id="rId34"/>
    <p:sldId id="261" r:id="rId35"/>
    <p:sldId id="263" r:id="rId36"/>
    <p:sldId id="264" r:id="rId37"/>
    <p:sldId id="260" r:id="rId38"/>
    <p:sldId id="265" r:id="rId39"/>
    <p:sldId id="307" r:id="rId40"/>
    <p:sldId id="266" r:id="rId41"/>
    <p:sldId id="29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00D6"/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842"/>
    <p:restoredTop sz="94700"/>
  </p:normalViewPr>
  <p:slideViewPr>
    <p:cSldViewPr snapToGrid="0">
      <p:cViewPr varScale="1">
        <p:scale>
          <a:sx n="94" d="100"/>
          <a:sy n="94" d="100"/>
        </p:scale>
        <p:origin x="232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07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0102-F81A-9D84-0771-7721372E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41028-4358-83E0-73EA-929E1164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C43FA-97AD-C77E-5098-B0E41ABC0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F9729-F406-EE08-7C1F-6054E4AAC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37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6BC6-146C-77DB-F9A1-9C2E6549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6BAD-D503-38D3-CA61-6405BBF03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32892-2DB3-6F80-CEB3-4CB98552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DA03B-D705-B0A4-12D8-DF3FBC98B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98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4AAD-ED47-EA6A-3989-D9CD55A9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90C1-0879-6528-EC2F-1D8FE9B0E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03B31-98B8-BAC3-8B68-570E0E5BE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B427-821C-AA4F-A0EC-CD63A13E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2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B5CA-CF76-046D-78DF-0E18A738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5AF62-38D4-7E93-5632-81ED818F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859C-A913-321C-FF86-B0341FAC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A53CD-6412-B9F7-3E03-629227405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86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9645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1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7126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861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44479B-705B-4489-957E-7E8A228BDFA0}" type="datetime1">
              <a:rPr lang="en-US" smtClean="0"/>
              <a:t>6/8/25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6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3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17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4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3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0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1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67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54321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14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6372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60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8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15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67" r:id="rId1"/>
    <p:sldLayoutId id="2147484068" r:id="rId2"/>
    <p:sldLayoutId id="2147484069" r:id="rId3"/>
    <p:sldLayoutId id="2147484070" r:id="rId4"/>
    <p:sldLayoutId id="2147484071" r:id="rId5"/>
    <p:sldLayoutId id="2147484072" r:id="rId6"/>
    <p:sldLayoutId id="2147484073" r:id="rId7"/>
    <p:sldLayoutId id="2147484074" r:id="rId8"/>
    <p:sldLayoutId id="2147484075" r:id="rId9"/>
    <p:sldLayoutId id="2147484076" r:id="rId10"/>
    <p:sldLayoutId id="2147484077" r:id="rId11"/>
    <p:sldLayoutId id="2147484078" r:id="rId12"/>
    <p:sldLayoutId id="2147484079" r:id="rId13"/>
    <p:sldLayoutId id="2147484080" r:id="rId14"/>
    <p:sldLayoutId id="2147484081" r:id="rId15"/>
    <p:sldLayoutId id="2147484082" r:id="rId16"/>
    <p:sldLayoutId id="214748408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DA2-2488-FADD-F495-93B7AB4D9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90" y="2482510"/>
            <a:ext cx="6377659" cy="1662791"/>
          </a:xfrm>
        </p:spPr>
        <p:txBody>
          <a:bodyPr>
            <a:normAutofit/>
          </a:bodyPr>
          <a:lstStyle/>
          <a:p>
            <a:r>
              <a:rPr lang="en-US"/>
              <a:t>CS445 Final Project</a:t>
            </a:r>
            <a:br>
              <a:rPr lang="en-US"/>
            </a:br>
            <a:r>
              <a:rPr lang="en-US"/>
              <a:t>Group 2 – Green Data Trees</a:t>
            </a:r>
            <a:br>
              <a:rPr lang="en-US"/>
            </a:br>
            <a:endParaRPr lang="en-US"/>
          </a:p>
        </p:txBody>
      </p:sp>
      <p:pic>
        <p:nvPicPr>
          <p:cNvPr id="5" name="Content Placeholder 4" descr="A group of green circles&#10;&#10;AI-generated content may be incorrect.">
            <a:extLst>
              <a:ext uri="{FF2B5EF4-FFF2-40B4-BE49-F238E27FC236}">
                <a16:creationId xmlns:a16="http://schemas.microsoft.com/office/drawing/2014/main" id="{0837A479-AEE2-3862-83B4-CDD0186EB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089514" y="1949264"/>
            <a:ext cx="2695388" cy="26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1732-BF64-33E0-055D-2A0FA1A959CA}"/>
              </a:ext>
            </a:extLst>
          </p:cNvPr>
          <p:cNvSpPr txBox="1"/>
          <p:nvPr/>
        </p:nvSpPr>
        <p:spPr>
          <a:xfrm>
            <a:off x="1247290" y="3791358"/>
            <a:ext cx="24775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Alexander Boyce</a:t>
            </a:r>
            <a:br>
              <a:rPr lang="en-US" sz="2000"/>
            </a:br>
            <a:r>
              <a:rPr lang="en-US" sz="2000"/>
              <a:t>Kyle Dennewith</a:t>
            </a:r>
          </a:p>
        </p:txBody>
      </p:sp>
    </p:spTree>
    <p:extLst>
      <p:ext uri="{BB962C8B-B14F-4D97-AF65-F5344CB8AC3E}">
        <p14:creationId xmlns:p14="http://schemas.microsoft.com/office/powerpoint/2010/main" val="1344547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37FA-01E4-91F5-8333-561DDD5A5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478" y="387732"/>
            <a:ext cx="6420922" cy="1210282"/>
          </a:xfrm>
        </p:spPr>
        <p:txBody>
          <a:bodyPr/>
          <a:lstStyle/>
          <a:p>
            <a:r>
              <a:rPr lang="en-US"/>
              <a:t>About Us and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768D1-D06B-E41E-762A-841EA5F4B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924" y="1713407"/>
            <a:ext cx="10721075" cy="19394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Our group research aims to accomplish the following:</a:t>
            </a:r>
          </a:p>
          <a:p>
            <a:r>
              <a:rPr lang="en-US" sz="2200" b="1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2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nvestigate</a:t>
            </a: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market dynamics of the legal cannabis industry in the state of Connecticut and Washington State.</a:t>
            </a:r>
          </a:p>
          <a:p>
            <a:r>
              <a:rPr lang="en-US" sz="22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Focus </a:t>
            </a: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state-wide consumption patterns, market structure, and other social trends.</a:t>
            </a:r>
          </a:p>
          <a:p>
            <a:endParaRPr lang="en-US" sz="22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b="1"/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 descr="A group of green circles&#10;&#10;AI-generated content may be incorrect.">
            <a:extLst>
              <a:ext uri="{FF2B5EF4-FFF2-40B4-BE49-F238E27FC236}">
                <a16:creationId xmlns:a16="http://schemas.microsoft.com/office/drawing/2014/main" id="{82BF5F72-A4B7-A088-E00D-DD141103E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545" y="156945"/>
            <a:ext cx="1939454" cy="193945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5DA025-3A77-3FFC-BCAF-7C6AB83C4C1F}"/>
              </a:ext>
            </a:extLst>
          </p:cNvPr>
          <p:cNvSpPr/>
          <p:nvPr/>
        </p:nvSpPr>
        <p:spPr>
          <a:xfrm>
            <a:off x="2323071" y="3768254"/>
            <a:ext cx="9048794" cy="27931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</a:t>
            </a:r>
            <a:r>
              <a:rPr lang="en-US" sz="1800" b="1" u="sng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 this Topic?</a:t>
            </a: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  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recent wave of state-level legalization across the county presents a novel regulated   	market distinct from long-established industries like alcohol, firearms, and nicotine 	products. </a:t>
            </a:r>
          </a:p>
          <a:p>
            <a:endParaRPr lang="en-US" sz="18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 </a:t>
            </a:r>
            <a:r>
              <a:rPr lang="en-US" sz="1800" b="1" u="sng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Where did we find this data?</a:t>
            </a: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will be utilizing multiple publicly available datasets from data.gov, and the State of   	Connecticu</a:t>
            </a: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open data portal.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420B1-2985-5CBA-30E4-380DEF3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Technologies utilized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F69A5AF-6DAE-8515-07DA-282A42B82F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450684"/>
            <a:ext cx="97728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CSVs, data cleaning, aggregation, and reshaping</a:t>
            </a:r>
            <a:endParaRPr lang="en-US" altLang="en-US" sz="18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Numeric operations like linear trends</a:t>
            </a:r>
            <a:r>
              <a:rPr lang="en-US" altLang="en-US" sz="1800">
                <a:latin typeface="Arial" panose="020B0604020202020204" pitchFamily="34" charset="0"/>
              </a:rPr>
              <a:t> and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moving averages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Plotting library for bar plots, </a:t>
            </a:r>
            <a:r>
              <a:rPr kumimoji="0" lang="en-US" altLang="en-US" sz="18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stackplots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line plots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GeoPandas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and manipulating shapefiles, merging geographic data (ZIP boundaries, city points)</a:t>
            </a:r>
          </a:p>
        </p:txBody>
      </p:sp>
    </p:spTree>
    <p:extLst>
      <p:ext uri="{BB962C8B-B14F-4D97-AF65-F5344CB8AC3E}">
        <p14:creationId xmlns:p14="http://schemas.microsoft.com/office/powerpoint/2010/main" val="1551641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0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>
                <a:solidFill>
                  <a:schemeClr val="bg2">
                    <a:lumMod val="25000"/>
                    <a:lumOff val="75000"/>
                  </a:schemeClr>
                </a:solidFill>
              </a:rPr>
              <a:t>Cannabis Sales By Week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B4B3-95A0-8A61-0397-CDF2D351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5C7C-2264-EA8A-BDDA-810ECBAD6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893CDF-902A-BE72-EDF4-1F3E560B4AB6}"/>
              </a:ext>
            </a:extLst>
          </p:cNvPr>
          <p:cNvSpPr txBox="1">
            <a:spLocks/>
          </p:cNvSpPr>
          <p:nvPr/>
        </p:nvSpPr>
        <p:spPr>
          <a:xfrm>
            <a:off x="7657696" y="6577340"/>
            <a:ext cx="4629554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One - Cannabis_Retail_Sales_by_Week_Ending.csv</a:t>
            </a:r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A046-8CCE-ACE5-8458-5312085238E9}"/>
              </a:ext>
            </a:extLst>
          </p:cNvPr>
          <p:cNvSpPr txBox="1"/>
          <p:nvPr/>
        </p:nvSpPr>
        <p:spPr>
          <a:xfrm>
            <a:off x="236723" y="1808868"/>
            <a:ext cx="5734278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dataset tracks weekly adult-use cannabis retail sales in Connecticut.</a:t>
            </a:r>
          </a:p>
          <a:p>
            <a:pPr>
              <a:buFont typeface="Arial" panose="020B0604020202020204" pitchFamily="34" charset="0"/>
              <a:buChar char="•"/>
            </a:pPr>
            <a:endParaRPr lang="en-US"/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Covers the time period from January 2023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F2BA3-D3B8-251B-9E82-C6B48FDB4E37}"/>
              </a:ext>
            </a:extLst>
          </p:cNvPr>
          <p:cNvSpPr txBox="1"/>
          <p:nvPr/>
        </p:nvSpPr>
        <p:spPr>
          <a:xfrm>
            <a:off x="6292838" y="3332362"/>
            <a:ext cx="57342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Some of the data in : Cannabis_Retail_Sales_by_Week_Ending.csv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1490D-FBA2-4C5D-AE51-75689DA6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515" y="1855737"/>
            <a:ext cx="5896798" cy="1533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7E72FE-9457-2DA8-A616-9FAB929C9AE1}"/>
              </a:ext>
            </a:extLst>
          </p:cNvPr>
          <p:cNvSpPr txBox="1"/>
          <p:nvPr/>
        </p:nvSpPr>
        <p:spPr>
          <a:xfrm>
            <a:off x="1297028" y="4290911"/>
            <a:ext cx="10137235" cy="1754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What trends can be observed in weekly adult-use cannabis sales, and how do those trends evolve over time?</a:t>
            </a:r>
          </a:p>
          <a:p>
            <a:endParaRPr lang="en-US"/>
          </a:p>
          <a:p>
            <a:r>
              <a:rPr lang="en-US"/>
              <a:t>Can Cannabis sales be associated with any real-world events or holidays?</a:t>
            </a:r>
          </a:p>
          <a:p>
            <a:endParaRPr lang="en-US"/>
          </a:p>
          <a:p>
            <a:r>
              <a:rPr lang="en-US"/>
              <a:t>How do individual weekly fluctuations compare to the overall trend and short-term moving average?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7176E-1C0D-7F2A-2B23-9AB6957E249D}"/>
              </a:ext>
            </a:extLst>
          </p:cNvPr>
          <p:cNvSpPr txBox="1"/>
          <p:nvPr/>
        </p:nvSpPr>
        <p:spPr>
          <a:xfrm>
            <a:off x="3468429" y="501248"/>
            <a:ext cx="52805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Cannabis Retail Sales in Connecticut (2023–2025)</a:t>
            </a:r>
          </a:p>
        </p:txBody>
      </p:sp>
    </p:spTree>
    <p:extLst>
      <p:ext uri="{BB962C8B-B14F-4D97-AF65-F5344CB8AC3E}">
        <p14:creationId xmlns:p14="http://schemas.microsoft.com/office/powerpoint/2010/main" val="149086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961-B4DC-8D12-838F-B2E6E3EC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038"/>
            <a:ext cx="3114676" cy="466699"/>
          </a:xfrm>
        </p:spPr>
        <p:txBody>
          <a:bodyPr>
            <a:normAutofit fontScale="90000"/>
          </a:bodyPr>
          <a:lstStyle/>
          <a:p>
            <a:r>
              <a:rPr lang="en-US" sz="3400">
                <a:solidFill>
                  <a:srgbClr val="549E39">
                    <a:lumMod val="60000"/>
                    <a:lumOff val="40000"/>
                  </a:srgbClr>
                </a:solidFill>
                <a:latin typeface="Tw Cen MT" panose="020B0602020104020603"/>
              </a:rPr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C5C8-D1CA-EB12-2A79-0ACE7AD29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147" y="770000"/>
            <a:ext cx="6276975" cy="1129863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900" b="1" u="sng"/>
              <a:t>Consistent Upward Trend</a:t>
            </a:r>
            <a:endParaRPr lang="en-US" sz="1900" u="sng"/>
          </a:p>
          <a:p>
            <a:pPr>
              <a:buFont typeface="Arial" panose="020B0604020202020204" pitchFamily="34" charset="0"/>
              <a:buChar char="•"/>
            </a:pPr>
            <a:r>
              <a:rPr lang="en-US" sz="1700"/>
              <a:t>Retail sales have </a:t>
            </a:r>
            <a:r>
              <a:rPr lang="en-US" sz="1700" b="1"/>
              <a:t>increased steadily</a:t>
            </a:r>
            <a:r>
              <a:rPr lang="en-US" sz="1700"/>
              <a:t> from January 2023 to April 2025.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/>
              <a:t>Red Linear trend line depicts </a:t>
            </a:r>
            <a:r>
              <a:rPr lang="en-US" sz="1700" b="1"/>
              <a:t>slow but stable market growth</a:t>
            </a:r>
            <a:r>
              <a:rPr lang="en-US" sz="1700"/>
              <a:t>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1D1C7-021B-99F3-FDC3-66051837B9B8}"/>
              </a:ext>
            </a:extLst>
          </p:cNvPr>
          <p:cNvSpPr txBox="1"/>
          <p:nvPr/>
        </p:nvSpPr>
        <p:spPr>
          <a:xfrm>
            <a:off x="2395535" y="369890"/>
            <a:ext cx="6162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Cannabis Retail Sales in Connecticut (2023–2025)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99718-8BA6-07CE-BEF9-99AA7AD0D1D2}"/>
              </a:ext>
            </a:extLst>
          </p:cNvPr>
          <p:cNvSpPr txBox="1"/>
          <p:nvPr/>
        </p:nvSpPr>
        <p:spPr>
          <a:xfrm>
            <a:off x="7651749" y="6550223"/>
            <a:ext cx="468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0EDB94-E656-2256-0DF4-CFBF2C0C1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1" y="870673"/>
            <a:ext cx="2895757" cy="511665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3D41C7-BF7B-5F9E-7773-307CF08643E3}"/>
              </a:ext>
            </a:extLst>
          </p:cNvPr>
          <p:cNvSpPr txBox="1"/>
          <p:nvPr/>
        </p:nvSpPr>
        <p:spPr>
          <a:xfrm>
            <a:off x="3464147" y="2002873"/>
            <a:ext cx="7184803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Holiday Sales Peaks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Mid-to-late December </a:t>
            </a:r>
            <a:r>
              <a:rPr lang="en-US"/>
              <a:t>experiences </a:t>
            </a:r>
            <a:r>
              <a:rPr lang="en-US" b="1"/>
              <a:t>clear spikes</a:t>
            </a:r>
            <a:r>
              <a:rPr lang="en-US"/>
              <a:t> in sales.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Likely tied to </a:t>
            </a:r>
            <a:r>
              <a:rPr lang="en-US" b="1"/>
              <a:t>holiday season activity</a:t>
            </a:r>
            <a:r>
              <a:rPr lang="en-US"/>
              <a:t> — consumers have more time off and may be purchasing for events or gifting.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3237E-F133-28DD-2EA6-867F78D4147E}"/>
              </a:ext>
            </a:extLst>
          </p:cNvPr>
          <p:cNvSpPr txBox="1"/>
          <p:nvPr/>
        </p:nvSpPr>
        <p:spPr>
          <a:xfrm>
            <a:off x="3464148" y="3306212"/>
            <a:ext cx="7975378" cy="120032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Mid-Month Spending Sweet Spot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First (purple)</a:t>
            </a:r>
            <a:r>
              <a:rPr lang="en-US"/>
              <a:t> and </a:t>
            </a:r>
            <a:r>
              <a:rPr lang="en-US" b="1"/>
              <a:t>last (blue)</a:t>
            </a:r>
            <a:r>
              <a:rPr lang="en-US"/>
              <a:t> weeks of each month show </a:t>
            </a:r>
            <a:r>
              <a:rPr lang="en-US" b="1"/>
              <a:t>lower sales</a:t>
            </a:r>
            <a:r>
              <a:rPr lang="en-US"/>
              <a:t>, even during high-performing months.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may reflect budget constraints like rent, credit cards, and subscription renewals.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B81D-F6B7-0E39-C930-33E59C107987}"/>
              </a:ext>
            </a:extLst>
          </p:cNvPr>
          <p:cNvSpPr txBox="1"/>
          <p:nvPr/>
        </p:nvSpPr>
        <p:spPr>
          <a:xfrm>
            <a:off x="3464147" y="4610672"/>
            <a:ext cx="8470992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Seasonal Strength in August &amp; September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August and September</a:t>
            </a:r>
            <a:r>
              <a:rPr lang="en-US"/>
              <a:t> consistently show </a:t>
            </a:r>
            <a:r>
              <a:rPr lang="en-US" b="1"/>
              <a:t>elevated sales volumes</a:t>
            </a:r>
            <a:r>
              <a:rPr lang="en-US"/>
              <a:t>, </a:t>
            </a:r>
            <a:r>
              <a:rPr lang="en-US" b="1"/>
              <a:t>excluding first/last week dips</a:t>
            </a:r>
            <a:r>
              <a:rPr lang="en-US"/>
              <a:t>.</a:t>
            </a:r>
          </a:p>
          <a:p>
            <a:r>
              <a:rPr lang="en-US"/>
              <a:t>This might correlate with </a:t>
            </a:r>
            <a:r>
              <a:rPr lang="en-US" b="1"/>
              <a:t>Late summer leisure activity,</a:t>
            </a:r>
            <a:r>
              <a:rPr lang="en-US"/>
              <a:t> </a:t>
            </a:r>
            <a:r>
              <a:rPr lang="en-US" b="1"/>
              <a:t>Back-to-school, </a:t>
            </a:r>
            <a:r>
              <a:rPr lang="en-US"/>
              <a:t>and </a:t>
            </a:r>
            <a:r>
              <a:rPr lang="en-US" b="1"/>
              <a:t>Fewer competing holidays</a:t>
            </a:r>
            <a:r>
              <a:rPr lang="en-US"/>
              <a:t>, allowing cannabis to remain a discretionary spending priority.</a:t>
            </a:r>
          </a:p>
        </p:txBody>
      </p:sp>
    </p:spTree>
    <p:extLst>
      <p:ext uri="{BB962C8B-B14F-4D97-AF65-F5344CB8AC3E}">
        <p14:creationId xmlns:p14="http://schemas.microsoft.com/office/powerpoint/2010/main" val="26207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New Product THC &amp; CBD Potency Over Time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BB9B-C708-B670-10BB-BCECC8D6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EEF5-A5CD-F6BF-EED3-5C6B0F5E2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0E7170-A339-0AB8-876F-000E4A6A191C}"/>
              </a:ext>
            </a:extLst>
          </p:cNvPr>
          <p:cNvSpPr txBox="1">
            <a:spLocks/>
          </p:cNvSpPr>
          <p:nvPr/>
        </p:nvSpPr>
        <p:spPr>
          <a:xfrm>
            <a:off x="7173310" y="6545531"/>
            <a:ext cx="5018690" cy="312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9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CB54C-5D92-4E09-D5BB-D5F534A51D33}"/>
              </a:ext>
            </a:extLst>
          </p:cNvPr>
          <p:cNvSpPr txBox="1"/>
          <p:nvPr/>
        </p:nvSpPr>
        <p:spPr>
          <a:xfrm>
            <a:off x="374407" y="1003115"/>
            <a:ext cx="5734278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dataset contains chemical composition data for all new marijuana products being legally sold in Connecticut. Specifically, this dataset tracks the levels of </a:t>
            </a:r>
            <a:r>
              <a:rPr lang="en-US" b="1"/>
              <a:t>Tetrahydrocannabinol (THC), Cannabidiols (CBD), Tetrahydrocannabinol acid (THCA), and Carboxylic acids (CBDA) </a:t>
            </a:r>
            <a:r>
              <a:rPr lang="en-US"/>
              <a:t>in new products. Each entry includes a </a:t>
            </a:r>
            <a:r>
              <a:rPr lang="en-US" i="1"/>
              <a:t>recorded date</a:t>
            </a:r>
            <a:r>
              <a:rPr lang="en-US"/>
              <a:t> along with the percentage potency of the chemical in a specific product.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Covers the time period from January 2015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48C4-C1FA-D203-6983-F1F134E062F0}"/>
              </a:ext>
            </a:extLst>
          </p:cNvPr>
          <p:cNvSpPr txBox="1"/>
          <p:nvPr/>
        </p:nvSpPr>
        <p:spPr>
          <a:xfrm>
            <a:off x="6108685" y="3284476"/>
            <a:ext cx="651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Some of the data in : Cannabis_Brands_with_Chemical_Composition.csv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F6787-CD74-FAF8-7575-169DECBDE2D6}"/>
              </a:ext>
            </a:extLst>
          </p:cNvPr>
          <p:cNvSpPr txBox="1"/>
          <p:nvPr/>
        </p:nvSpPr>
        <p:spPr>
          <a:xfrm>
            <a:off x="881953" y="4146744"/>
            <a:ext cx="5734278" cy="2031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How has the average </a:t>
            </a:r>
            <a:r>
              <a:rPr lang="en-US" sz="1800"/>
              <a:t>Chemical Composition and Potency </a:t>
            </a:r>
            <a:r>
              <a:rPr lang="en-US"/>
              <a:t>levels of newly released marijuana products changed over time?</a:t>
            </a:r>
          </a:p>
          <a:p>
            <a:endParaRPr lang="en-US"/>
          </a:p>
          <a:p>
            <a:r>
              <a:rPr lang="en-US"/>
              <a:t>Can indications of legislation change be seen in a visualization showing new products?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B06A4-2193-7109-201C-2AE248161CE6}"/>
              </a:ext>
            </a:extLst>
          </p:cNvPr>
          <p:cNvSpPr txBox="1"/>
          <p:nvPr/>
        </p:nvSpPr>
        <p:spPr>
          <a:xfrm>
            <a:off x="2113005" y="467819"/>
            <a:ext cx="87860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Cannabis Product Chemical Composition and Potency in Connecticut (2015–2025)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2247-903F-B948-2664-239BB9FA2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84" y="1017210"/>
            <a:ext cx="5287113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3BC88-631B-71CC-77B7-5A0AF450BF47}"/>
              </a:ext>
            </a:extLst>
          </p:cNvPr>
          <p:cNvSpPr txBox="1"/>
          <p:nvPr/>
        </p:nvSpPr>
        <p:spPr>
          <a:xfrm>
            <a:off x="7123777" y="3865437"/>
            <a:ext cx="3984525" cy="246221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b="1"/>
              <a:t>THC</a:t>
            </a:r>
            <a:r>
              <a:rPr lang="en-US" sz="1400"/>
              <a:t> – Psychoactive; the main compound that causes the “high” feeling.</a:t>
            </a:r>
          </a:p>
          <a:p>
            <a:endParaRPr lang="en-US" sz="1400"/>
          </a:p>
          <a:p>
            <a:r>
              <a:rPr lang="en-US" sz="1400" b="1"/>
              <a:t>CBD</a:t>
            </a:r>
            <a:r>
              <a:rPr lang="en-US" sz="1400"/>
              <a:t> – Non-psychoactive; known for therapeutic effects like reducing anxiety or inflammation.</a:t>
            </a:r>
          </a:p>
          <a:p>
            <a:endParaRPr lang="en-US" sz="1400"/>
          </a:p>
          <a:p>
            <a:r>
              <a:rPr lang="en-US" sz="1400" b="1"/>
              <a:t>THCA</a:t>
            </a:r>
            <a:r>
              <a:rPr lang="en-US" sz="1400"/>
              <a:t> – Non-psychoactive; the raw form of THC found in fresh cannabis, turns into THC when heated.</a:t>
            </a:r>
          </a:p>
          <a:p>
            <a:endParaRPr lang="en-US" sz="1400"/>
          </a:p>
          <a:p>
            <a:r>
              <a:rPr lang="en-US" sz="1400" b="1"/>
              <a:t>CBDA</a:t>
            </a:r>
            <a:r>
              <a:rPr lang="en-US" sz="1400"/>
              <a:t> – Non-psychoactive; the raw form of CBD, also converts to CBD when exposed to heat.</a:t>
            </a:r>
          </a:p>
        </p:txBody>
      </p:sp>
    </p:spTree>
    <p:extLst>
      <p:ext uri="{BB962C8B-B14F-4D97-AF65-F5344CB8AC3E}">
        <p14:creationId xmlns:p14="http://schemas.microsoft.com/office/powerpoint/2010/main" val="196491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D000-56C7-DF33-8668-AB6CC86B6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681CAE-8E8E-4DB2-1ACA-9707A298C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71555"/>
            <a:ext cx="11430000" cy="5715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D3E67F-4535-DC47-9B59-6D5E3B24A24E}"/>
              </a:ext>
            </a:extLst>
          </p:cNvPr>
          <p:cNvSpPr txBox="1"/>
          <p:nvPr/>
        </p:nvSpPr>
        <p:spPr>
          <a:xfrm>
            <a:off x="7449207" y="6486556"/>
            <a:ext cx="4845766" cy="30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5B60AE-7905-27BB-3FB6-01BCF9F5B893}"/>
              </a:ext>
            </a:extLst>
          </p:cNvPr>
          <p:cNvSpPr txBox="1"/>
          <p:nvPr/>
        </p:nvSpPr>
        <p:spPr>
          <a:xfrm>
            <a:off x="4677032" y="-78690"/>
            <a:ext cx="30274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64B4CAA-7D29-2BB1-7D31-3C0FF5087FC6}"/>
              </a:ext>
            </a:extLst>
          </p:cNvPr>
          <p:cNvSpPr txBox="1"/>
          <p:nvPr/>
        </p:nvSpPr>
        <p:spPr>
          <a:xfrm>
            <a:off x="2821459" y="371445"/>
            <a:ext cx="8559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</p:spTree>
    <p:extLst>
      <p:ext uri="{BB962C8B-B14F-4D97-AF65-F5344CB8AC3E}">
        <p14:creationId xmlns:p14="http://schemas.microsoft.com/office/powerpoint/2010/main" val="3725058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83F0-E5CC-03B6-F070-B42070E3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C9F5A3-B7AD-319A-1B1E-8C3F3796B261}"/>
              </a:ext>
            </a:extLst>
          </p:cNvPr>
          <p:cNvSpPr txBox="1"/>
          <p:nvPr/>
        </p:nvSpPr>
        <p:spPr>
          <a:xfrm>
            <a:off x="2077373" y="618022"/>
            <a:ext cx="8484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6724-DCB4-2286-4352-B1446DB5ADC1}"/>
              </a:ext>
            </a:extLst>
          </p:cNvPr>
          <p:cNvSpPr txBox="1"/>
          <p:nvPr/>
        </p:nvSpPr>
        <p:spPr>
          <a:xfrm>
            <a:off x="5063158" y="93050"/>
            <a:ext cx="2717988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1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Observations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D3208C-ACB5-FDEA-93B8-EBB54379D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504" y="1375184"/>
            <a:ext cx="4357554" cy="461038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47CE5B-9171-5C6F-1E87-05F85A280A7D}"/>
              </a:ext>
            </a:extLst>
          </p:cNvPr>
          <p:cNvSpPr txBox="1"/>
          <p:nvPr/>
        </p:nvSpPr>
        <p:spPr>
          <a:xfrm>
            <a:off x="2077373" y="1383950"/>
            <a:ext cx="434529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Significant production shift in 2018</a:t>
            </a:r>
            <a:br>
              <a:rPr lang="en-US"/>
            </a:br>
            <a:r>
              <a:rPr lang="en-US"/>
              <a:t>– Likely tied to a </a:t>
            </a:r>
            <a:r>
              <a:rPr lang="en-US" b="1"/>
              <a:t>legal or regulatory change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ADC281-7E4D-6DD5-7575-7EEBA798179C}"/>
              </a:ext>
            </a:extLst>
          </p:cNvPr>
          <p:cNvSpPr txBox="1"/>
          <p:nvPr/>
        </p:nvSpPr>
        <p:spPr>
          <a:xfrm>
            <a:off x="1556951" y="284576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E24A3-13FC-2709-01D6-42D466623275}"/>
              </a:ext>
            </a:extLst>
          </p:cNvPr>
          <p:cNvSpPr txBox="1"/>
          <p:nvPr/>
        </p:nvSpPr>
        <p:spPr>
          <a:xfrm>
            <a:off x="907456" y="2246996"/>
            <a:ext cx="44968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No visible impact from COVID-19  in 2020</a:t>
            </a:r>
            <a:br>
              <a:rPr lang="en-US"/>
            </a:br>
            <a:r>
              <a:rPr lang="en-US"/>
              <a:t>– </a:t>
            </a:r>
            <a:r>
              <a:rPr lang="en-US" b="1"/>
              <a:t>New product registrations remained steady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B0C08-C168-4307-33DC-4E5A24C03DBE}"/>
              </a:ext>
            </a:extLst>
          </p:cNvPr>
          <p:cNvSpPr txBox="1"/>
          <p:nvPr/>
        </p:nvSpPr>
        <p:spPr>
          <a:xfrm>
            <a:off x="1628724" y="3049200"/>
            <a:ext cx="4793428" cy="64633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Overall increase in product submissions</a:t>
            </a:r>
            <a:br>
              <a:rPr lang="en-US"/>
            </a:br>
            <a:r>
              <a:rPr lang="en-US"/>
              <a:t>– Industry shows </a:t>
            </a:r>
            <a:r>
              <a:rPr lang="en-US" b="1"/>
              <a:t>growth and expansion</a:t>
            </a:r>
            <a:r>
              <a:rPr lang="en-US"/>
              <a:t> over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DE86EC-CC2F-24CF-4144-5E94D891D3D6}"/>
              </a:ext>
            </a:extLst>
          </p:cNvPr>
          <p:cNvSpPr txBox="1"/>
          <p:nvPr/>
        </p:nvSpPr>
        <p:spPr>
          <a:xfrm>
            <a:off x="907456" y="3912246"/>
            <a:ext cx="6058133" cy="64633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THC &amp; THCA potency trending upward</a:t>
            </a:r>
            <a:br>
              <a:rPr lang="en-US"/>
            </a:br>
            <a:r>
              <a:rPr lang="en-US"/>
              <a:t>– while </a:t>
            </a:r>
            <a:r>
              <a:rPr lang="en-US" b="1"/>
              <a:t>fewer products</a:t>
            </a:r>
            <a:r>
              <a:rPr lang="en-US"/>
              <a:t>, are registered, potency is </a:t>
            </a:r>
            <a:r>
              <a:rPr lang="en-US" b="1"/>
              <a:t>intensifying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43637-9B1D-D130-E399-356D1DA933E2}"/>
              </a:ext>
            </a:extLst>
          </p:cNvPr>
          <p:cNvSpPr txBox="1"/>
          <p:nvPr/>
        </p:nvSpPr>
        <p:spPr>
          <a:xfrm>
            <a:off x="1910468" y="4836132"/>
            <a:ext cx="4512197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CBD &amp; CBDA potency trending downward</a:t>
            </a:r>
            <a:br>
              <a:rPr lang="en-US"/>
            </a:br>
            <a:r>
              <a:rPr lang="en-US"/>
              <a:t>– Still the </a:t>
            </a:r>
            <a:r>
              <a:rPr lang="en-US" b="1"/>
              <a:t>most commonly registered products</a:t>
            </a:r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FF9663-A397-FAF7-D428-81506D43D710}"/>
              </a:ext>
            </a:extLst>
          </p:cNvPr>
          <p:cNvSpPr txBox="1"/>
          <p:nvPr/>
        </p:nvSpPr>
        <p:spPr>
          <a:xfrm>
            <a:off x="7464972" y="6550223"/>
            <a:ext cx="481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2011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14B0-9442-8295-60E6-4B7222CD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AF48-F535-F976-A538-F84A715B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0BC554-4922-09F4-6CA9-B9E0133B122F}"/>
              </a:ext>
            </a:extLst>
          </p:cNvPr>
          <p:cNvSpPr txBox="1"/>
          <p:nvPr/>
        </p:nvSpPr>
        <p:spPr>
          <a:xfrm>
            <a:off x="304122" y="1169210"/>
            <a:ext cx="9472470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What is this data?</a:t>
            </a:r>
          </a:p>
          <a:p>
            <a:r>
              <a:rPr lang="en-US"/>
              <a:t>This dataset contains </a:t>
            </a:r>
            <a:r>
              <a:rPr lang="en-US" b="1"/>
              <a:t>monthly retail sales totals</a:t>
            </a:r>
            <a:r>
              <a:rPr lang="en-US"/>
              <a:t> for cannabis products in Connecticut, </a:t>
            </a:r>
          </a:p>
          <a:p>
            <a:r>
              <a:rPr lang="en-US"/>
              <a:t>broken down by </a:t>
            </a:r>
            <a:r>
              <a:rPr lang="en-US" b="1"/>
              <a:t>product category</a:t>
            </a:r>
            <a:r>
              <a:rPr lang="en-US"/>
              <a:t> (e.g., flower, edibles, concentrates). Each entry includes the </a:t>
            </a:r>
          </a:p>
          <a:p>
            <a:r>
              <a:rPr lang="en-US" b="1"/>
              <a:t>"Month Ending"</a:t>
            </a:r>
            <a:r>
              <a:rPr lang="en-US"/>
              <a:t> date, the </a:t>
            </a:r>
            <a:r>
              <a:rPr lang="en-US" b="1"/>
              <a:t>product type</a:t>
            </a:r>
            <a:r>
              <a:rPr lang="en-US"/>
              <a:t>, and the </a:t>
            </a:r>
            <a:r>
              <a:rPr lang="en-US" b="1"/>
              <a:t>total dollar amount sold</a:t>
            </a:r>
            <a:r>
              <a:rPr lang="en-US"/>
              <a:t> for that category in that month.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19873-6F4B-0559-8229-87C6BF2C3517}"/>
              </a:ext>
            </a:extLst>
          </p:cNvPr>
          <p:cNvSpPr txBox="1"/>
          <p:nvPr/>
        </p:nvSpPr>
        <p:spPr>
          <a:xfrm>
            <a:off x="613612" y="3109623"/>
            <a:ext cx="4809484" cy="23083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How have consumer preferences for different types of cannabis products</a:t>
            </a:r>
            <a:br>
              <a:rPr lang="en-US"/>
            </a:br>
            <a:r>
              <a:rPr lang="en-US"/>
              <a:t>shifted in Connecticut over the past X years?</a:t>
            </a:r>
          </a:p>
          <a:p>
            <a:endParaRPr lang="en-US"/>
          </a:p>
          <a:p>
            <a:r>
              <a:rPr lang="en-US"/>
              <a:t>What is the most popular type of consumer cannabis product? </a:t>
            </a:r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CD2E2-FC26-A653-A9C9-0E79AE370787}"/>
              </a:ext>
            </a:extLst>
          </p:cNvPr>
          <p:cNvSpPr txBox="1"/>
          <p:nvPr/>
        </p:nvSpPr>
        <p:spPr>
          <a:xfrm>
            <a:off x="3317065" y="452518"/>
            <a:ext cx="64595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  <a:r>
              <a:rPr lang="en-US">
                <a:solidFill>
                  <a:prstClr val="white"/>
                </a:solidFill>
                <a:latin typeface="Tw Cen MT" panose="020B0602020104020603"/>
              </a:rPr>
              <a:t> (2023-2025)</a:t>
            </a:r>
            <a:endParaRPr lang="en-US" sz="180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510-B520-DA77-7FB8-EADEF6B2EB7A}"/>
              </a:ext>
            </a:extLst>
          </p:cNvPr>
          <p:cNvSpPr txBox="1"/>
          <p:nvPr/>
        </p:nvSpPr>
        <p:spPr>
          <a:xfrm>
            <a:off x="7134363" y="6550223"/>
            <a:ext cx="50738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63759E-4D8F-75DC-6C75-FE8CDA0F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17" y="3446920"/>
            <a:ext cx="6220693" cy="12955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5ADB7ED-2781-A45A-EB96-E4A13A78A15C}"/>
              </a:ext>
            </a:extLst>
          </p:cNvPr>
          <p:cNvSpPr txBox="1"/>
          <p:nvPr/>
        </p:nvSpPr>
        <p:spPr>
          <a:xfrm>
            <a:off x="6108685" y="4742501"/>
            <a:ext cx="56868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Some of the data in : Cannabis_Retail_Products_Sold_by_Product_Type.csv</a:t>
            </a:r>
          </a:p>
        </p:txBody>
      </p:sp>
    </p:spTree>
    <p:extLst>
      <p:ext uri="{BB962C8B-B14F-4D97-AF65-F5344CB8AC3E}">
        <p14:creationId xmlns:p14="http://schemas.microsoft.com/office/powerpoint/2010/main" val="3539831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907C-89F1-9DEB-A0A8-C13E1E44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93CAD8-BC0C-9A21-6C54-E4F22BD73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3305"/>
            <a:ext cx="121920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042241-B31C-3A77-5C51-2F84865228DD}"/>
              </a:ext>
            </a:extLst>
          </p:cNvPr>
          <p:cNvSpPr txBox="1"/>
          <p:nvPr/>
        </p:nvSpPr>
        <p:spPr>
          <a:xfrm>
            <a:off x="811199" y="5710760"/>
            <a:ext cx="10194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*Other category includes: Pill, Capsule, Non Smokable Infused Extract, Tincture, Marijuana Infused Topicals, Liquid Marijuana RSO, Marijuana Mix Infused, Lozenge*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8E842-BB11-6A9C-F877-F1B2034B1804}"/>
              </a:ext>
            </a:extLst>
          </p:cNvPr>
          <p:cNvSpPr txBox="1"/>
          <p:nvPr/>
        </p:nvSpPr>
        <p:spPr>
          <a:xfrm>
            <a:off x="3996559" y="61851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31BB3-5A61-11F5-F121-0E4BC192E46D}"/>
              </a:ext>
            </a:extLst>
          </p:cNvPr>
          <p:cNvSpPr txBox="1"/>
          <p:nvPr/>
        </p:nvSpPr>
        <p:spPr>
          <a:xfrm>
            <a:off x="2822487" y="543063"/>
            <a:ext cx="6547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Monthly Cannabis Sales Volume by Product Category </a:t>
            </a:r>
            <a:r>
              <a:rPr lang="en-US">
                <a:solidFill>
                  <a:prstClr val="white"/>
                </a:solidFill>
                <a:latin typeface="Tw Cen MT" panose="020B0602020104020603"/>
              </a:rPr>
              <a:t>(2023-2025)</a:t>
            </a:r>
            <a:endParaRPr lang="en-US" sz="180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C701E-9821-66CA-E1C3-0DE5F3C825E7}"/>
              </a:ext>
            </a:extLst>
          </p:cNvPr>
          <p:cNvSpPr txBox="1"/>
          <p:nvPr/>
        </p:nvSpPr>
        <p:spPr>
          <a:xfrm>
            <a:off x="4204860" y="19843"/>
            <a:ext cx="2982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D9AD63-5228-43D6-FA72-BF28F316A783}"/>
              </a:ext>
            </a:extLst>
          </p:cNvPr>
          <p:cNvSpPr txBox="1"/>
          <p:nvPr/>
        </p:nvSpPr>
        <p:spPr>
          <a:xfrm>
            <a:off x="7060325" y="6530380"/>
            <a:ext cx="51316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8917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A297-B44A-FCB5-8F86-631BE51B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637422-8D19-DEAA-934F-051A4F842775}"/>
              </a:ext>
            </a:extLst>
          </p:cNvPr>
          <p:cNvSpPr txBox="1"/>
          <p:nvPr/>
        </p:nvSpPr>
        <p:spPr>
          <a:xfrm>
            <a:off x="4735417" y="0"/>
            <a:ext cx="2717988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Observations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D8A29-F1B0-1694-01CF-ECD68FA9B0FF}"/>
              </a:ext>
            </a:extLst>
          </p:cNvPr>
          <p:cNvSpPr txBox="1"/>
          <p:nvPr/>
        </p:nvSpPr>
        <p:spPr>
          <a:xfrm>
            <a:off x="2610343" y="447780"/>
            <a:ext cx="7380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prstClr val="white"/>
                </a:solidFill>
                <a:latin typeface="Tw Cen MT" panose="020B0602020104020603"/>
              </a:rPr>
              <a:t>Monthly Cannabis Sales Volume by Product Category (2023-2025)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4EA64F-2A36-96FA-5E11-6E09BE588310}"/>
              </a:ext>
            </a:extLst>
          </p:cNvPr>
          <p:cNvSpPr txBox="1"/>
          <p:nvPr/>
        </p:nvSpPr>
        <p:spPr>
          <a:xfrm>
            <a:off x="7070178" y="6434807"/>
            <a:ext cx="51218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EE9C5E-57D8-E214-36AC-8621DCC9CD0C}"/>
              </a:ext>
            </a:extLst>
          </p:cNvPr>
          <p:cNvSpPr txBox="1"/>
          <p:nvPr/>
        </p:nvSpPr>
        <p:spPr>
          <a:xfrm>
            <a:off x="4928138" y="1453360"/>
            <a:ext cx="6718506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/>
              <a:t>Vape Cartridges</a:t>
            </a:r>
            <a:r>
              <a:rPr lang="en-US"/>
              <a:t> are the most popular product category,</a:t>
            </a:r>
          </a:p>
          <a:p>
            <a:r>
              <a:rPr lang="en-US"/>
              <a:t>Followed by </a:t>
            </a:r>
            <a:r>
              <a:rPr lang="en-US" b="1"/>
              <a:t>Useable Cannabis</a:t>
            </a:r>
            <a:r>
              <a:rPr lang="en-US"/>
              <a:t>, </a:t>
            </a:r>
            <a:r>
              <a:rPr lang="en-US" b="1"/>
              <a:t>Other</a:t>
            </a:r>
            <a:r>
              <a:rPr lang="en-US"/>
              <a:t>, </a:t>
            </a:r>
            <a:r>
              <a:rPr lang="en-US" b="1"/>
              <a:t>Infused Edibles</a:t>
            </a:r>
            <a:r>
              <a:rPr lang="en-US"/>
              <a:t>, and </a:t>
            </a:r>
            <a:r>
              <a:rPr lang="en-US" b="1"/>
              <a:t>Extract for Inhalation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2FF03A-B6FE-251B-A96F-29FB77B9E0C5}"/>
              </a:ext>
            </a:extLst>
          </p:cNvPr>
          <p:cNvSpPr txBox="1"/>
          <p:nvPr/>
        </p:nvSpPr>
        <p:spPr>
          <a:xfrm>
            <a:off x="4928138" y="2804031"/>
            <a:ext cx="4375108" cy="36933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Sales volume has remained stable</a:t>
            </a:r>
            <a:r>
              <a:rPr lang="en-US"/>
              <a:t> over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4A57-8650-9AD1-D9EE-2DDEDA456DD2}"/>
              </a:ext>
            </a:extLst>
          </p:cNvPr>
          <p:cNvSpPr txBox="1"/>
          <p:nvPr/>
        </p:nvSpPr>
        <p:spPr>
          <a:xfrm>
            <a:off x="4928138" y="3511873"/>
            <a:ext cx="5812745" cy="36933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Product type demand</a:t>
            </a:r>
            <a:r>
              <a:rPr lang="en-US"/>
              <a:t> has shown little variation across months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D5F0A5-AC5B-D9BA-1357-B4FD0D9CC30D}"/>
              </a:ext>
            </a:extLst>
          </p:cNvPr>
          <p:cNvSpPr txBox="1"/>
          <p:nvPr/>
        </p:nvSpPr>
        <p:spPr>
          <a:xfrm>
            <a:off x="4928138" y="4188894"/>
            <a:ext cx="6718506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/>
              <a:t>Noticeable </a:t>
            </a:r>
            <a:r>
              <a:rPr lang="en-US" b="1"/>
              <a:t>sales spikes occur in April and during the holiday season</a:t>
            </a:r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1C4562-FF15-0C9E-BFA4-518E8C52B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73" y="1215426"/>
            <a:ext cx="3602746" cy="432940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8885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7459E-E167-5EA9-8CEB-29C8E9F8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4AFA5991-E8F1-BAEE-DE76-55BFEA7207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1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CE97B-82C4-4123-0F3B-84097A88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Bonus MAP Visual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0787CFC-B94F-5FFA-D0DF-B1F67311F3E8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77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6EF-DAC5-5C21-881F-A0A59D12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3FE-BF48-6EDB-D8CB-95463977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Bonus Map!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7F59F-A987-9227-D302-0D52DCC4B159}"/>
              </a:ext>
            </a:extLst>
          </p:cNvPr>
          <p:cNvSpPr txBox="1"/>
          <p:nvPr/>
        </p:nvSpPr>
        <p:spPr>
          <a:xfrm>
            <a:off x="288353" y="1575212"/>
            <a:ext cx="5013434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What is this map?</a:t>
            </a:r>
            <a:endParaRPr lang="en-US"/>
          </a:p>
          <a:p>
            <a:r>
              <a:rPr lang="en-US"/>
              <a:t>This dataset shows </a:t>
            </a:r>
            <a:r>
              <a:rPr lang="en-US" b="1"/>
              <a:t>medical marijuana dispensary licensees in Connecticut</a:t>
            </a:r>
            <a:r>
              <a:rPr lang="en-US"/>
              <a:t>. Geo-spatial shapefile data was used to match ZIP codes with map boundaries.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72CED-D98D-20CA-B796-971DA8EF82C1}"/>
              </a:ext>
            </a:extLst>
          </p:cNvPr>
          <p:cNvSpPr txBox="1"/>
          <p:nvPr/>
        </p:nvSpPr>
        <p:spPr>
          <a:xfrm>
            <a:off x="288353" y="6438258"/>
            <a:ext cx="4174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Some of the data in : Medical_Marijuana_Dispensary_License.csv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F6CDEB-5DB8-569B-716A-FBE9617F6840}"/>
              </a:ext>
            </a:extLst>
          </p:cNvPr>
          <p:cNvSpPr txBox="1"/>
          <p:nvPr/>
        </p:nvSpPr>
        <p:spPr>
          <a:xfrm>
            <a:off x="288353" y="3527930"/>
            <a:ext cx="501343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  <a:endParaRPr lang="en-US"/>
          </a:p>
          <a:p>
            <a:r>
              <a:rPr lang="en-US"/>
              <a:t>Where in Connecticut are marijuana licenses concentrated?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E22FFE-D608-4A6F-7C7E-E475A66510D7}"/>
              </a:ext>
            </a:extLst>
          </p:cNvPr>
          <p:cNvSpPr txBox="1"/>
          <p:nvPr/>
        </p:nvSpPr>
        <p:spPr>
          <a:xfrm>
            <a:off x="7882758" y="6550223"/>
            <a:ext cx="4374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Map Visual - Medical_Marijuana_Dispensary_License.csv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7EB02-6790-6CB4-AA09-0B53A6266EC7}"/>
              </a:ext>
            </a:extLst>
          </p:cNvPr>
          <p:cNvSpPr txBox="1"/>
          <p:nvPr/>
        </p:nvSpPr>
        <p:spPr>
          <a:xfrm>
            <a:off x="3583371" y="419742"/>
            <a:ext cx="5255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Cannabis Retail Store Count by Connecticut Zip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804532-6B64-AAF5-AAE3-6A0A861A0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01" y="4926650"/>
            <a:ext cx="3361439" cy="1418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739158-36C1-6AF9-A280-E429105F9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830" y="1261962"/>
            <a:ext cx="6116119" cy="489289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004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sign on it&#10;&#10;Description automatically generated">
            <a:extLst>
              <a:ext uri="{FF2B5EF4-FFF2-40B4-BE49-F238E27FC236}">
                <a16:creationId xmlns:a16="http://schemas.microsoft.com/office/drawing/2014/main" id="{15731EC2-8AFE-D83B-C800-766DF7144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104" y="-124691"/>
            <a:ext cx="12254208" cy="791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8F7F77-102A-F22B-A7FC-E399901AE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90103"/>
            <a:ext cx="7772400" cy="4277793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656056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Where the data came from: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D41D2A5-8196-6E39-0123-0A6B7C66B9B8}"/>
              </a:ext>
            </a:extLst>
          </p:cNvPr>
          <p:cNvCxnSpPr>
            <a:cxnSpLocks/>
          </p:cNvCxnSpPr>
          <p:nvPr/>
        </p:nvCxnSpPr>
        <p:spPr>
          <a:xfrm>
            <a:off x="6013949" y="1215400"/>
            <a:ext cx="912601" cy="31805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1410250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Where the data came from: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61FA1A-1C15-2AB8-396A-23474502E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0220" y="2004170"/>
            <a:ext cx="6471557" cy="4523338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97F73DD1-41C1-F52B-6E7E-963BD629B0FF}"/>
              </a:ext>
            </a:extLst>
          </p:cNvPr>
          <p:cNvSpPr/>
          <p:nvPr/>
        </p:nvSpPr>
        <p:spPr>
          <a:xfrm>
            <a:off x="4158827" y="4599092"/>
            <a:ext cx="2018453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5A9FE85-4712-CCD9-4474-EF646A895646}"/>
              </a:ext>
            </a:extLst>
          </p:cNvPr>
          <p:cNvSpPr/>
          <p:nvPr/>
        </p:nvSpPr>
        <p:spPr>
          <a:xfrm>
            <a:off x="4158826" y="6268718"/>
            <a:ext cx="3377657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DF9DCAD7-34B1-E2BC-7BF6-E423AB246903}"/>
              </a:ext>
            </a:extLst>
          </p:cNvPr>
          <p:cNvSpPr/>
          <p:nvPr/>
        </p:nvSpPr>
        <p:spPr>
          <a:xfrm>
            <a:off x="4158826" y="3845354"/>
            <a:ext cx="3108960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4A4EEC3F-1481-4B1A-32BC-DB6CA68E1B51}"/>
              </a:ext>
            </a:extLst>
          </p:cNvPr>
          <p:cNvSpPr/>
          <p:nvPr/>
        </p:nvSpPr>
        <p:spPr>
          <a:xfrm>
            <a:off x="4158826" y="3017519"/>
            <a:ext cx="1652694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0EF399-CBF0-7427-2310-F2F27C83AF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84" y="412778"/>
            <a:ext cx="4171881" cy="33014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FFA4B7-3713-6A82-3F8B-F342906ED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917" y="700676"/>
            <a:ext cx="7980719" cy="2761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243DB83-01E1-E655-CE7D-A6F5D527DF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420" y="961626"/>
            <a:ext cx="5499100" cy="292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9C0C0CB-5DDD-DDF2-E902-2FC5268493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0" y="1248605"/>
            <a:ext cx="69596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403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445120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What the Data Means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FFA4B7-3713-6A82-3F8B-F342906ED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782" y="929277"/>
            <a:ext cx="7980719" cy="2761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243DB83-01E1-E655-CE7D-A6F5D527D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0591" y="3325501"/>
            <a:ext cx="5499100" cy="292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120F7D-B8D5-4B5B-5CF0-3ED313879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3942" y="1188730"/>
            <a:ext cx="7772400" cy="20384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952A816-B3D2-D9A4-F968-4374A4893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4508" y="3715950"/>
            <a:ext cx="4837037" cy="260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30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4624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8960" y="5473288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endorsedCounties</a:t>
            </a:r>
            <a:r>
              <a:rPr lang="en-US" sz="160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9858960" y="1497039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socialES</a:t>
            </a:r>
            <a:r>
              <a:rPr lang="en-US" sz="160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695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444342" y="4751905"/>
            <a:ext cx="243674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endorsedCounties</a:t>
            </a:r>
            <a:r>
              <a:rPr lang="en-US" sz="160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2798293" y="4672583"/>
            <a:ext cx="233740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socialES</a:t>
            </a:r>
            <a:r>
              <a:rPr lang="en-US" sz="160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Social Equity Score &lt;= 100, then </a:t>
            </a:r>
            <a:r>
              <a:rPr lang="en-US" sz="160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Social Equity Score &lt;= 200, then </a:t>
            </a:r>
            <a:r>
              <a:rPr lang="en-US" sz="160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Else </a:t>
            </a:r>
            <a:r>
              <a:rPr lang="en-US" sz="160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/>
              <a:t>Social Equity Score </a:t>
            </a:r>
            <a:r>
              <a:rPr lang="en-US"/>
              <a:t>= </a:t>
            </a:r>
            <a:r>
              <a:rPr lang="en-US" sz="1400" err="1"/>
              <a:t>mergedCountiesTables</a:t>
            </a:r>
            <a:r>
              <a:rPr lang="en-US" sz="1400"/>
              <a:t>[</a:t>
            </a:r>
            <a:r>
              <a:rPr lang="en-US" sz="140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200036" y="409165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mergedCountiesTables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252B41-F1A6-0112-C585-6902C9E2C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583832"/>
            <a:ext cx="7772400" cy="3455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mergedCountiesTables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/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/>
              <a:t>Medically Endorsed Cannabis Retailers and Social Equity Score by Washington County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00545" y="921607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washingtonCounties</a:t>
            </a:r>
            <a:r>
              <a:rPr lang="en-US" sz="1600">
                <a:solidFill>
                  <a:schemeClr val="accent6">
                    <a:lumMod val="60000"/>
                    <a:lumOff val="40000"/>
                  </a:schemeClr>
                </a:solidFill>
              </a:rPr>
              <a:t>[‘County’] </a:t>
            </a:r>
            <a:r>
              <a:rPr lang="en-US" sz="160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997793" y="4878130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>
                <a:solidFill>
                  <a:srgbClr val="FFC000"/>
                </a:solidFill>
              </a:rPr>
              <a:t>np.where</a:t>
            </a:r>
            <a:r>
              <a:rPr lang="en-US" sz="1600" dirty="0">
                <a:solidFill>
                  <a:srgbClr val="FFC000"/>
                </a:solidFill>
              </a:rPr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875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mergedEnforcementData</a:t>
            </a:r>
            <a:r>
              <a:rPr lang="en-US" sz="1600">
                <a:solidFill>
                  <a:schemeClr val="bg1"/>
                </a:solidFill>
              </a:rPr>
              <a:t> </a:t>
            </a:r>
            <a:r>
              <a:rPr lang="en-US" sz="160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mergedMapData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  </a:t>
            </a:r>
            <a:r>
              <a:rPr lang="en-US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3451419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Implementation: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/>
              <a:t>Using the axis’s .</a:t>
            </a:r>
            <a:r>
              <a:rPr lang="en-US" err="1"/>
              <a:t>add_artist</a:t>
            </a:r>
            <a:r>
              <a:rPr lang="en-US"/>
              <a:t>() attribute with a Lambda function.</a:t>
            </a:r>
          </a:p>
          <a:p>
            <a:r>
              <a:rPr lang="en-US"/>
              <a:t>Each artist is a </a:t>
            </a:r>
            <a:r>
              <a:rPr lang="en-US" err="1"/>
              <a:t>OffsetImage</a:t>
            </a:r>
            <a:r>
              <a:rPr lang="en-US"/>
              <a:t> inside a </a:t>
            </a:r>
            <a:r>
              <a:rPr lang="en-US" err="1"/>
              <a:t>AnnotationBbox</a:t>
            </a:r>
            <a:r>
              <a:rPr lang="en-US"/>
              <a:t> both imported from </a:t>
            </a:r>
            <a:r>
              <a:rPr lang="en-US" err="1"/>
              <a:t>matplotlib.offsetbox</a:t>
            </a:r>
            <a:r>
              <a:rPr lang="en-US"/>
              <a:t> library.</a:t>
            </a:r>
          </a:p>
          <a:p>
            <a:r>
              <a:rPr lang="en-US"/>
              <a:t>Zoom is controlled by the current </a:t>
            </a:r>
            <a:r>
              <a:rPr lang="en-US" err="1"/>
              <a:t>totalCount</a:t>
            </a:r>
            <a:r>
              <a:rPr lang="en-US"/>
              <a:t> variable in </a:t>
            </a:r>
            <a:r>
              <a:rPr lang="en-US" err="1"/>
              <a:t>mergedMapData</a:t>
            </a:r>
            <a:r>
              <a:rPr lang="en-US"/>
              <a:t> </a:t>
            </a:r>
            <a:r>
              <a:rPr lang="en-US" err="1"/>
              <a:t>DataFrame</a:t>
            </a:r>
            <a:r>
              <a:rPr lang="en-US"/>
              <a:t>.</a:t>
            </a:r>
          </a:p>
          <a:p>
            <a:r>
              <a:rPr lang="en-US"/>
              <a:t>	- if </a:t>
            </a:r>
            <a:r>
              <a:rPr lang="en-US" err="1"/>
              <a:t>pd.notna</a:t>
            </a:r>
            <a:r>
              <a:rPr lang="en-US"/>
              <a:t>(</a:t>
            </a:r>
            <a:r>
              <a:rPr lang="en-US" err="1"/>
              <a:t>x.totalCount</a:t>
            </a:r>
            <a:r>
              <a:rPr lang="en-US"/>
              <a:t>) then Zoom= 0.0009 * </a:t>
            </a:r>
            <a:r>
              <a:rPr lang="en-US" err="1"/>
              <a:t>x.totalCount</a:t>
            </a:r>
            <a:endParaRPr lang="en-US"/>
          </a:p>
          <a:p>
            <a:r>
              <a:rPr lang="en-US"/>
              <a:t>	- else Zoom=0.02</a:t>
            </a:r>
          </a:p>
          <a:p>
            <a:r>
              <a:rPr lang="en-US" err="1"/>
              <a:t>xy</a:t>
            </a:r>
            <a:r>
              <a:rPr lang="en-US"/>
              <a:t> = ( x =  centroid of x coord, (y = centroid of y coord – 0.1) ) and no frame. </a:t>
            </a:r>
          </a:p>
          <a:p>
            <a:r>
              <a:rPr lang="en-US"/>
              <a:t>	- Subtracting -0.1 from y centroid to move </a:t>
            </a:r>
            <a:r>
              <a:rPr lang="en-US" err="1"/>
              <a:t>policeBadge.png</a:t>
            </a:r>
            <a:r>
              <a:rPr lang="en-US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/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/>
              <a:t>Washington Counties: </a:t>
            </a:r>
          </a:p>
          <a:p>
            <a:pPr algn="ctr"/>
            <a:r>
              <a:rPr lang="en-US" sz="360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Moderate amount in Pierce, Grant, Adams, and Pend </a:t>
            </a:r>
            <a:r>
              <a:rPr lang="en-US" err="1"/>
              <a:t>Orelle</a:t>
            </a:r>
            <a:r>
              <a:rPr lang="en-US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Gives idea on what counties to focus on helping.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50EDDF-7277-2FAB-ED37-333B00CE1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536" y="1011889"/>
            <a:ext cx="7772400" cy="51477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Related Sales in Washington </a:t>
            </a:r>
          </a:p>
          <a:p>
            <a:pPr algn="ctr"/>
            <a:r>
              <a:rPr lang="en-US" sz="3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D300D6"/>
                </a:solidFill>
              </a:rPr>
              <a:t>Pandas </a:t>
            </a:r>
            <a:r>
              <a:rPr lang="en-US" sz="1600" err="1">
                <a:solidFill>
                  <a:srgbClr val="D300D6"/>
                </a:solidFill>
              </a:rPr>
              <a:t>Dataframe</a:t>
            </a:r>
            <a:r>
              <a:rPr lang="en-US" sz="1600">
                <a:solidFill>
                  <a:srgbClr val="D300D6"/>
                </a:solidFill>
              </a:rPr>
              <a:t> </a:t>
            </a:r>
            <a:r>
              <a:rPr lang="en-US" sz="160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3381905" y="4440256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rgbClr val="D300D6"/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5000995" y="3959205"/>
            <a:ext cx="1" cy="481051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777A3EF-BEB0-CC6C-8E15-90E08EB3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8861" y="4844074"/>
            <a:ext cx="2857094" cy="171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topCounties2018</a:t>
            </a:r>
            <a:r>
              <a:rPr lang="en-US" sz="160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235200" y="5066955"/>
            <a:ext cx="286899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topTaxCounties1819</a:t>
            </a:r>
            <a:r>
              <a:rPr lang="en-US" sz="160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232816" cy="19453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err="1"/>
              <a:t>subplots_adjust</a:t>
            </a:r>
            <a:endParaRPr lang="en-US" sz="160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3305" y="1778135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304" y="2149571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13304" y="2570310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46725" y="1362637"/>
            <a:ext cx="226974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0480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err="1"/>
              <a:t>FuncFormatter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4357858" y="509165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03317" y="1183768"/>
            <a:ext cx="236179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6968" y="1646050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7512" y="1989829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7512" y="2324574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2173" y="5455094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8384" y="6344839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4282173" y="595932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Bar(</a:t>
            </a:r>
            <a:r>
              <a:rPr lang="en-US" sz="1600" err="1">
                <a:solidFill>
                  <a:srgbClr val="FFC000"/>
                </a:solidFill>
              </a:rPr>
              <a:t>x,y,data</a:t>
            </a:r>
            <a:r>
              <a:rPr lang="en-US" sz="1600">
                <a:solidFill>
                  <a:srgbClr val="FFC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713264" y="1180104"/>
            <a:ext cx="236179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Third Row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279719-00AC-54F7-4A7D-D7A66CB1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82" y="652531"/>
            <a:ext cx="6213405" cy="44391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566528-C92C-3950-CE12-82C92B40B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3216" y="1611933"/>
            <a:ext cx="622300" cy="2540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75D78E1-1340-C5F8-47AC-E650C7116D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566" y="1933247"/>
            <a:ext cx="609600" cy="25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12AE7-F44B-3F36-4283-AE022B6ED2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3216" y="2255910"/>
            <a:ext cx="596900" cy="25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E1F3222-FD32-1FCC-116C-09FB784098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0018" y="3983696"/>
            <a:ext cx="2120900" cy="304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C9432D-E199-B6DF-0AAA-5DEB464CBF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8138" y="2664498"/>
            <a:ext cx="2286000" cy="2921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349254-E80D-5D15-A774-A97538D6E7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15387" y="716365"/>
            <a:ext cx="1168400" cy="24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17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DB4C-EDD2-8A58-A844-8E2C21C2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859" y="3059357"/>
            <a:ext cx="2724281" cy="739285"/>
          </a:xfrm>
        </p:spPr>
        <p:txBody>
          <a:bodyPr>
            <a:normAutofit fontScale="90000"/>
          </a:bodyPr>
          <a:lstStyle/>
          <a:p>
            <a:r>
              <a:rPr lang="en-US" b="1"/>
              <a:t>Thank you!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146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244</TotalTime>
  <Words>1953</Words>
  <Application>Microsoft Macintosh PowerPoint</Application>
  <PresentationFormat>Widescreen</PresentationFormat>
  <Paragraphs>281</Paragraphs>
  <Slides>41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Tw Cen MT</vt:lpstr>
      <vt:lpstr>Circuit</vt:lpstr>
      <vt:lpstr>CS445 Final Project Group 2 – Green Data Trees </vt:lpstr>
      <vt:lpstr>About Us and our Project</vt:lpstr>
      <vt:lpstr>Technologies utilized</vt:lpstr>
      <vt:lpstr>Visual 1 Alex Boyce  </vt:lpstr>
      <vt:lpstr>About the Data</vt:lpstr>
      <vt:lpstr>Observations</vt:lpstr>
      <vt:lpstr>Visual 2 Alex Boyce  </vt:lpstr>
      <vt:lpstr>About the Data</vt:lpstr>
      <vt:lpstr>PowerPoint Presentation</vt:lpstr>
      <vt:lpstr>PowerPoint Presentation</vt:lpstr>
      <vt:lpstr>Visual 3 Alex Boyce  </vt:lpstr>
      <vt:lpstr>About the Data</vt:lpstr>
      <vt:lpstr>PowerPoint Presentation</vt:lpstr>
      <vt:lpstr>PowerPoint Presentation</vt:lpstr>
      <vt:lpstr>Bonus MAP Visual Alex Boyce  </vt:lpstr>
      <vt:lpstr>Bonus Map!</vt:lpstr>
      <vt:lpstr>PowerPoint Presentation</vt:lpstr>
      <vt:lpstr>METHODOLOGY</vt:lpstr>
      <vt:lpstr>METHODOLOGY</vt:lpstr>
      <vt:lpstr>METHODOLOGY</vt:lpstr>
      <vt:lpstr>Visual 4 Kyle Dennewith  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Kyle Dennewith</cp:lastModifiedBy>
  <cp:revision>6</cp:revision>
  <dcterms:created xsi:type="dcterms:W3CDTF">2025-05-31T05:22:09Z</dcterms:created>
  <dcterms:modified xsi:type="dcterms:W3CDTF">2025-06-08T23:27:45Z</dcterms:modified>
</cp:coreProperties>
</file>