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1"/>
  </p:sldMasterIdLst>
  <p:notesMasterIdLst>
    <p:notesMasterId r:id="rId43"/>
  </p:notesMasterIdLst>
  <p:sldIdLst>
    <p:sldId id="289" r:id="rId2"/>
    <p:sldId id="286" r:id="rId3"/>
    <p:sldId id="301" r:id="rId4"/>
    <p:sldId id="280" r:id="rId5"/>
    <p:sldId id="281" r:id="rId6"/>
    <p:sldId id="288" r:id="rId7"/>
    <p:sldId id="279" r:id="rId8"/>
    <p:sldId id="300" r:id="rId9"/>
    <p:sldId id="291" r:id="rId10"/>
    <p:sldId id="292" r:id="rId11"/>
    <p:sldId id="278" r:id="rId12"/>
    <p:sldId id="295" r:id="rId13"/>
    <p:sldId id="294" r:id="rId14"/>
    <p:sldId id="293" r:id="rId15"/>
    <p:sldId id="284" r:id="rId16"/>
    <p:sldId id="297" r:id="rId17"/>
    <p:sldId id="256" r:id="rId18"/>
    <p:sldId id="305" r:id="rId19"/>
    <p:sldId id="258" r:id="rId20"/>
    <p:sldId id="304" r:id="rId21"/>
    <p:sldId id="306" r:id="rId22"/>
    <p:sldId id="303" r:id="rId23"/>
    <p:sldId id="267" r:id="rId24"/>
    <p:sldId id="268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69" r:id="rId33"/>
    <p:sldId id="259" r:id="rId34"/>
    <p:sldId id="261" r:id="rId35"/>
    <p:sldId id="263" r:id="rId36"/>
    <p:sldId id="264" r:id="rId37"/>
    <p:sldId id="260" r:id="rId38"/>
    <p:sldId id="265" r:id="rId39"/>
    <p:sldId id="307" r:id="rId40"/>
    <p:sldId id="266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00D6"/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5173CC-C5E4-C445-8653-B835198AF342}" v="193" dt="2025-06-06T00:45:23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9645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1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7126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861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/>
              <a:t>CS445 Final Project</a:t>
            </a:r>
            <a:br>
              <a:rPr lang="en-US"/>
            </a:br>
            <a:r>
              <a:rPr lang="en-US"/>
              <a:t>Group 2 – Green Data Trees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Alexander Boyce</a:t>
            </a:r>
            <a:br>
              <a:rPr lang="en-US" sz="2000"/>
            </a:br>
            <a:r>
              <a:rPr lang="en-US" sz="200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/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545" y="156945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20B1-2985-5CBA-30E4-380DEF3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 utilized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F69A5AF-6DAE-8515-07DA-282A42B82F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450684"/>
            <a:ext cx="97728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CSVs, data cleaning, aggregation, and reshaping</a:t>
            </a:r>
            <a:endParaRPr lang="en-US" altLang="en-US" sz="18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Numeric operations like linear trends</a:t>
            </a:r>
            <a:r>
              <a:rPr lang="en-US" altLang="en-US" sz="1800">
                <a:latin typeface="Arial" panose="020B0604020202020204" pitchFamily="34" charset="0"/>
              </a:rPr>
              <a:t> and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moving averages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Plotting library for bar plots, </a:t>
            </a:r>
            <a:r>
              <a:rPr kumimoji="0" lang="en-US" altLang="en-US" sz="18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stackplots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line plots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and manipulating shapefiles, merging geographic data (ZIP boundaries, city points)</a:t>
            </a:r>
          </a:p>
        </p:txBody>
      </p:sp>
    </p:spTree>
    <p:extLst>
      <p:ext uri="{BB962C8B-B14F-4D97-AF65-F5344CB8AC3E}">
        <p14:creationId xmlns:p14="http://schemas.microsoft.com/office/powerpoint/2010/main" val="1551641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What trends can be observed in weekly adult-use cannabis sales, and how do those trends evolve over time?</a:t>
            </a:r>
          </a:p>
          <a:p>
            <a:endParaRPr lang="en-US"/>
          </a:p>
          <a:p>
            <a:r>
              <a:rPr lang="en-US"/>
              <a:t>Can Cannabis sales be associated with any real-world events or holidays?</a:t>
            </a:r>
          </a:p>
          <a:p>
            <a:endParaRPr lang="en-US"/>
          </a:p>
          <a:p>
            <a:r>
              <a:rPr lang="en-US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/>
              <a:t>Consistent Upward Trend</a:t>
            </a:r>
            <a:endParaRPr lang="en-US" sz="1900" u="sng"/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Retail sales have </a:t>
            </a:r>
            <a:r>
              <a:rPr lang="en-US" sz="1700" b="1"/>
              <a:t>increased steadily</a:t>
            </a:r>
            <a:r>
              <a:rPr lang="en-US" sz="170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Red Linear trend line depicts </a:t>
            </a:r>
            <a:r>
              <a:rPr lang="en-US" sz="1700" b="1"/>
              <a:t>slow but stable market growth</a:t>
            </a:r>
            <a:r>
              <a:rPr lang="en-US" sz="1700"/>
              <a:t>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Holiday Sales Peaks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Mid-to-late December </a:t>
            </a:r>
            <a:r>
              <a:rPr lang="en-US"/>
              <a:t>experiences </a:t>
            </a:r>
            <a:r>
              <a:rPr lang="en-US" b="1"/>
              <a:t>clear spikes</a:t>
            </a:r>
            <a:r>
              <a:rPr lang="en-US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Likely tied to </a:t>
            </a:r>
            <a:r>
              <a:rPr lang="en-US" b="1"/>
              <a:t>holiday season activity</a:t>
            </a:r>
            <a:r>
              <a:rPr lang="en-US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Mid-Month Spending Sweet Spot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First (purple)</a:t>
            </a:r>
            <a:r>
              <a:rPr lang="en-US"/>
              <a:t> and </a:t>
            </a:r>
            <a:r>
              <a:rPr lang="en-US" b="1"/>
              <a:t>last (blue)</a:t>
            </a:r>
            <a:r>
              <a:rPr lang="en-US"/>
              <a:t> weeks of each month show </a:t>
            </a:r>
            <a:r>
              <a:rPr lang="en-US" b="1"/>
              <a:t>lower sales</a:t>
            </a:r>
            <a:r>
              <a:rPr lang="en-US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Seasonal Strength in August &amp; September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August and September</a:t>
            </a:r>
            <a:r>
              <a:rPr lang="en-US"/>
              <a:t> consistently show </a:t>
            </a:r>
            <a:r>
              <a:rPr lang="en-US" b="1"/>
              <a:t>elevated sales volumes</a:t>
            </a:r>
            <a:r>
              <a:rPr lang="en-US"/>
              <a:t>, </a:t>
            </a:r>
            <a:r>
              <a:rPr lang="en-US" b="1"/>
              <a:t>excluding first/last week dips</a:t>
            </a:r>
            <a:r>
              <a:rPr lang="en-US"/>
              <a:t>.</a:t>
            </a:r>
          </a:p>
          <a:p>
            <a:r>
              <a:rPr lang="en-US"/>
              <a:t>This might correlate with </a:t>
            </a:r>
            <a:r>
              <a:rPr lang="en-US" b="1"/>
              <a:t>Late summer leisure activity,</a:t>
            </a:r>
            <a:r>
              <a:rPr lang="en-US"/>
              <a:t> </a:t>
            </a:r>
            <a:r>
              <a:rPr lang="en-US" b="1"/>
              <a:t>Back-to-school, </a:t>
            </a:r>
            <a:r>
              <a:rPr lang="en-US"/>
              <a:t>and </a:t>
            </a:r>
            <a:r>
              <a:rPr lang="en-US" b="1"/>
              <a:t>Fewer competing holidays</a:t>
            </a:r>
            <a:r>
              <a:rPr lang="en-US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New Product THC &amp; CBD Potency Over Time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7173310" y="6545531"/>
            <a:ext cx="5018690" cy="312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9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contains chemical composition data for all new marijuana products being legally sold in Connecticut. Specifically, this dataset tracks the levels of </a:t>
            </a:r>
            <a:r>
              <a:rPr lang="en-US" b="1"/>
              <a:t>Tetrahydrocannabinol (THC), Cannabidiols (CBD), Tetrahydrocannabinol acid (THCA), and Carboxylic acids (CBDA) </a:t>
            </a:r>
            <a:r>
              <a:rPr lang="en-US"/>
              <a:t>in new products. Each entry includes a </a:t>
            </a:r>
            <a:r>
              <a:rPr lang="en-US" i="1"/>
              <a:t>recorded date</a:t>
            </a:r>
            <a:r>
              <a:rPr lang="en-US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108685" y="3284476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has the average </a:t>
            </a:r>
            <a:r>
              <a:rPr lang="en-US" sz="1800"/>
              <a:t>Chemical Composition and Potency </a:t>
            </a:r>
            <a:r>
              <a:rPr lang="en-US"/>
              <a:t>levels of newly released marijuana products changed over time?</a:t>
            </a:r>
          </a:p>
          <a:p>
            <a:endParaRPr lang="en-US"/>
          </a:p>
          <a:p>
            <a:r>
              <a:rPr lang="en-US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/>
              <a:t>THC</a:t>
            </a:r>
            <a:r>
              <a:rPr lang="en-US" sz="1400"/>
              <a:t> – Psychoactive; the main compound that causes the “high” feeling.</a:t>
            </a:r>
          </a:p>
          <a:p>
            <a:endParaRPr lang="en-US" sz="1400"/>
          </a:p>
          <a:p>
            <a:r>
              <a:rPr lang="en-US" sz="1400" b="1"/>
              <a:t>CBD</a:t>
            </a:r>
            <a:r>
              <a:rPr lang="en-US" sz="1400"/>
              <a:t> – Non-psychoactive; known for therapeutic effects like reducing anxiety or inflammation.</a:t>
            </a:r>
          </a:p>
          <a:p>
            <a:endParaRPr lang="en-US" sz="1400"/>
          </a:p>
          <a:p>
            <a:r>
              <a:rPr lang="en-US" sz="1400" b="1"/>
              <a:t>THCA</a:t>
            </a:r>
            <a:r>
              <a:rPr lang="en-US" sz="1400"/>
              <a:t> – Non-psychoactive; the raw form of THC found in fresh cannabis, turns into THC when heated.</a:t>
            </a:r>
          </a:p>
          <a:p>
            <a:endParaRPr lang="en-US" sz="1400"/>
          </a:p>
          <a:p>
            <a:r>
              <a:rPr lang="en-US" sz="1400" b="1"/>
              <a:t>CBDA</a:t>
            </a:r>
            <a:r>
              <a:rPr lang="en-US" sz="140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71555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7449207" y="6486556"/>
            <a:ext cx="4845766" cy="30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677032" y="-78690"/>
            <a:ext cx="30274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2821459" y="371445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2077373" y="618022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5063158" y="93050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504" y="1375184"/>
            <a:ext cx="4357554" cy="461038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Significant production shift in 2018</a:t>
            </a:r>
            <a:br>
              <a:rPr lang="en-US"/>
            </a:br>
            <a:r>
              <a:rPr lang="en-US"/>
              <a:t>– Likely tied to a </a:t>
            </a:r>
            <a:r>
              <a:rPr lang="en-US" b="1"/>
              <a:t>legal or regulatory change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No visible impact from COVID-19  in 2020</a:t>
            </a:r>
            <a:br>
              <a:rPr lang="en-US"/>
            </a:br>
            <a:r>
              <a:rPr lang="en-US"/>
              <a:t>– </a:t>
            </a:r>
            <a:r>
              <a:rPr lang="en-US" b="1"/>
              <a:t>New product registrations remained steady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Overall increase in product submissions</a:t>
            </a:r>
            <a:br>
              <a:rPr lang="en-US"/>
            </a:br>
            <a:r>
              <a:rPr lang="en-US"/>
              <a:t>– Industry shows </a:t>
            </a:r>
            <a:r>
              <a:rPr lang="en-US" b="1"/>
              <a:t>growth and expansion</a:t>
            </a:r>
            <a:r>
              <a:rPr lang="en-US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THC &amp; THCA potency trending upward</a:t>
            </a:r>
            <a:br>
              <a:rPr lang="en-US"/>
            </a:br>
            <a:r>
              <a:rPr lang="en-US"/>
              <a:t>– while </a:t>
            </a:r>
            <a:r>
              <a:rPr lang="en-US" b="1"/>
              <a:t>fewer products</a:t>
            </a:r>
            <a:r>
              <a:rPr lang="en-US"/>
              <a:t>, are registered, potency is </a:t>
            </a:r>
            <a:r>
              <a:rPr lang="en-US" b="1"/>
              <a:t>intensifying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CBD &amp; CBDA potency trending downward</a:t>
            </a:r>
            <a:br>
              <a:rPr lang="en-US"/>
            </a:br>
            <a:r>
              <a:rPr lang="en-US"/>
              <a:t>– Still the </a:t>
            </a:r>
            <a:r>
              <a:rPr lang="en-US" b="1"/>
              <a:t>most commonly registered products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7464972" y="6550223"/>
            <a:ext cx="481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304122" y="1169210"/>
            <a:ext cx="9472470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data?</a:t>
            </a:r>
          </a:p>
          <a:p>
            <a:r>
              <a:rPr lang="en-US"/>
              <a:t>This dataset contains </a:t>
            </a:r>
            <a:r>
              <a:rPr lang="en-US" b="1"/>
              <a:t>monthly retail sales totals</a:t>
            </a:r>
            <a:r>
              <a:rPr lang="en-US"/>
              <a:t> for cannabis products in Connecticut, </a:t>
            </a:r>
          </a:p>
          <a:p>
            <a:r>
              <a:rPr lang="en-US"/>
              <a:t>broken down by </a:t>
            </a:r>
            <a:r>
              <a:rPr lang="en-US" b="1"/>
              <a:t>product category</a:t>
            </a:r>
            <a:r>
              <a:rPr lang="en-US"/>
              <a:t> (e.g., flower, edibles, concentrates). Each entry includes the </a:t>
            </a:r>
          </a:p>
          <a:p>
            <a:r>
              <a:rPr lang="en-US" b="1"/>
              <a:t>"Month Ending"</a:t>
            </a:r>
            <a:r>
              <a:rPr lang="en-US"/>
              <a:t> date, the </a:t>
            </a:r>
            <a:r>
              <a:rPr lang="en-US" b="1"/>
              <a:t>product type</a:t>
            </a:r>
            <a:r>
              <a:rPr lang="en-US"/>
              <a:t>, and the </a:t>
            </a:r>
            <a:r>
              <a:rPr lang="en-US" b="1"/>
              <a:t>total dollar amount sold</a:t>
            </a:r>
            <a:r>
              <a:rPr lang="en-US"/>
              <a:t> for that category in that month.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613612" y="3109623"/>
            <a:ext cx="4809484" cy="23083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have consumer preferences for different types of cannabis products</a:t>
            </a:r>
            <a:br>
              <a:rPr lang="en-US"/>
            </a:br>
            <a:r>
              <a:rPr lang="en-US"/>
              <a:t>shifted in Connecticut over the past X years?</a:t>
            </a:r>
          </a:p>
          <a:p>
            <a:endParaRPr lang="en-US"/>
          </a:p>
          <a:p>
            <a:r>
              <a:rPr lang="en-US"/>
              <a:t>What is the most popular type of consumer cannabis product? 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CD2E2-FC26-A653-A9C9-0E79AE370787}"/>
              </a:ext>
            </a:extLst>
          </p:cNvPr>
          <p:cNvSpPr txBox="1"/>
          <p:nvPr/>
        </p:nvSpPr>
        <p:spPr>
          <a:xfrm>
            <a:off x="3317065" y="452518"/>
            <a:ext cx="64595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 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510-B520-DA77-7FB8-EADEF6B2EB7A}"/>
              </a:ext>
            </a:extLst>
          </p:cNvPr>
          <p:cNvSpPr txBox="1"/>
          <p:nvPr/>
        </p:nvSpPr>
        <p:spPr>
          <a:xfrm>
            <a:off x="7134363" y="6550223"/>
            <a:ext cx="50738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3759E-4D8F-75DC-6C75-FE8CDA0F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17" y="3446920"/>
            <a:ext cx="6220693" cy="1295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5ADB7ED-2781-A45A-EB96-E4A13A78A15C}"/>
              </a:ext>
            </a:extLst>
          </p:cNvPr>
          <p:cNvSpPr txBox="1"/>
          <p:nvPr/>
        </p:nvSpPr>
        <p:spPr>
          <a:xfrm>
            <a:off x="6108685" y="4742501"/>
            <a:ext cx="56868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Some of the data in : Cannabis_Retail_Products_Sold_by_Product_Type.csv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93CAD8-BC0C-9A21-6C54-E4F22BD7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305"/>
            <a:ext cx="121920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2241-B31C-3A77-5C51-2F84865228DD}"/>
              </a:ext>
            </a:extLst>
          </p:cNvPr>
          <p:cNvSpPr txBox="1"/>
          <p:nvPr/>
        </p:nvSpPr>
        <p:spPr>
          <a:xfrm>
            <a:off x="811199" y="5710760"/>
            <a:ext cx="10194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*Other category includes: Pill, Capsule, Non Smokable Infused Extract, Tincture, Marijuana Infused Topicals, Liquid Marijuana RSO, Marijuana Mix Infused, Lozenge*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8E842-BB11-6A9C-F877-F1B2034B1804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31BB3-5A61-11F5-F121-0E4BC192E46D}"/>
              </a:ext>
            </a:extLst>
          </p:cNvPr>
          <p:cNvSpPr txBox="1"/>
          <p:nvPr/>
        </p:nvSpPr>
        <p:spPr>
          <a:xfrm>
            <a:off x="2822487" y="543063"/>
            <a:ext cx="6547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 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C701E-9821-66CA-E1C3-0DE5F3C825E7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9AD63-5228-43D6-FA72-BF28F316A783}"/>
              </a:ext>
            </a:extLst>
          </p:cNvPr>
          <p:cNvSpPr txBox="1"/>
          <p:nvPr/>
        </p:nvSpPr>
        <p:spPr>
          <a:xfrm>
            <a:off x="7060325" y="6530380"/>
            <a:ext cx="5131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637422-8D19-DEAA-934F-051A4F842775}"/>
              </a:ext>
            </a:extLst>
          </p:cNvPr>
          <p:cNvSpPr txBox="1"/>
          <p:nvPr/>
        </p:nvSpPr>
        <p:spPr>
          <a:xfrm>
            <a:off x="4735417" y="0"/>
            <a:ext cx="2717988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Observations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D8A29-F1B0-1694-01CF-ECD68FA9B0FF}"/>
              </a:ext>
            </a:extLst>
          </p:cNvPr>
          <p:cNvSpPr txBox="1"/>
          <p:nvPr/>
        </p:nvSpPr>
        <p:spPr>
          <a:xfrm>
            <a:off x="2610343" y="447780"/>
            <a:ext cx="7380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prstClr val="white"/>
                </a:solidFill>
                <a:latin typeface="Tw Cen MT" panose="020B0602020104020603"/>
              </a:rPr>
              <a:t>Monthly Cannabis Sales Volume by Product Category (2023-2025)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EA64F-2A36-96FA-5E11-6E09BE588310}"/>
              </a:ext>
            </a:extLst>
          </p:cNvPr>
          <p:cNvSpPr txBox="1"/>
          <p:nvPr/>
        </p:nvSpPr>
        <p:spPr>
          <a:xfrm>
            <a:off x="7070178" y="6434807"/>
            <a:ext cx="51218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E9C5E-57D8-E214-36AC-8621DCC9CD0C}"/>
              </a:ext>
            </a:extLst>
          </p:cNvPr>
          <p:cNvSpPr txBox="1"/>
          <p:nvPr/>
        </p:nvSpPr>
        <p:spPr>
          <a:xfrm>
            <a:off x="4928138" y="1453360"/>
            <a:ext cx="6718506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/>
              <a:t>Vape Cartridges</a:t>
            </a:r>
            <a:r>
              <a:rPr lang="en-US"/>
              <a:t> are the most popular product category,</a:t>
            </a:r>
          </a:p>
          <a:p>
            <a:r>
              <a:rPr lang="en-US"/>
              <a:t>Followed by </a:t>
            </a:r>
            <a:r>
              <a:rPr lang="en-US" b="1"/>
              <a:t>Useable Cannabis</a:t>
            </a:r>
            <a:r>
              <a:rPr lang="en-US"/>
              <a:t>, </a:t>
            </a:r>
            <a:r>
              <a:rPr lang="en-US" b="1"/>
              <a:t>Other</a:t>
            </a:r>
            <a:r>
              <a:rPr lang="en-US"/>
              <a:t>, </a:t>
            </a:r>
            <a:r>
              <a:rPr lang="en-US" b="1"/>
              <a:t>Infused Edibles</a:t>
            </a:r>
            <a:r>
              <a:rPr lang="en-US"/>
              <a:t>, and </a:t>
            </a:r>
            <a:r>
              <a:rPr lang="en-US" b="1"/>
              <a:t>Extract for Inhalation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2FF03A-B6FE-251B-A96F-29FB77B9E0C5}"/>
              </a:ext>
            </a:extLst>
          </p:cNvPr>
          <p:cNvSpPr txBox="1"/>
          <p:nvPr/>
        </p:nvSpPr>
        <p:spPr>
          <a:xfrm>
            <a:off x="4928138" y="2804031"/>
            <a:ext cx="4375108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Sales volume has remained stable</a:t>
            </a:r>
            <a:r>
              <a:rPr lang="en-US"/>
              <a:t> over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4A57-8650-9AD1-D9EE-2DDEDA456DD2}"/>
              </a:ext>
            </a:extLst>
          </p:cNvPr>
          <p:cNvSpPr txBox="1"/>
          <p:nvPr/>
        </p:nvSpPr>
        <p:spPr>
          <a:xfrm>
            <a:off x="4928138" y="3511873"/>
            <a:ext cx="5812745" cy="36933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Product type demand</a:t>
            </a:r>
            <a:r>
              <a:rPr lang="en-US"/>
              <a:t> has shown little variation across months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5F0A5-AC5B-D9BA-1357-B4FD0D9CC30D}"/>
              </a:ext>
            </a:extLst>
          </p:cNvPr>
          <p:cNvSpPr txBox="1"/>
          <p:nvPr/>
        </p:nvSpPr>
        <p:spPr>
          <a:xfrm>
            <a:off x="4928138" y="4188894"/>
            <a:ext cx="6718506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/>
              <a:t>Noticeable </a:t>
            </a:r>
            <a:r>
              <a:rPr lang="en-US" b="1"/>
              <a:t>sales spikes occur in April and during the holiday season</a:t>
            </a:r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1C4562-FF15-0C9E-BFA4-518E8C52B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73" y="1215426"/>
            <a:ext cx="3602746" cy="432940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Bonus MAP Visual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Bonus Map!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288353" y="1575212"/>
            <a:ext cx="5013434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map?</a:t>
            </a:r>
            <a:endParaRPr lang="en-US"/>
          </a:p>
          <a:p>
            <a:r>
              <a:rPr lang="en-US"/>
              <a:t>This dataset shows </a:t>
            </a:r>
            <a:r>
              <a:rPr lang="en-US" b="1"/>
              <a:t>medical marijuana dispensary licensees in Connecticut</a:t>
            </a:r>
            <a:r>
              <a:rPr lang="en-US"/>
              <a:t>. Geo-spatial shapefile data was used to match ZIP codes with map boundaries.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288353" y="6438258"/>
            <a:ext cx="4174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Some of the data in : Medical_Marijuana_Dispensary_License.csv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288353" y="3527930"/>
            <a:ext cx="501343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  <a:endParaRPr lang="en-US"/>
          </a:p>
          <a:p>
            <a:r>
              <a:rPr lang="en-US"/>
              <a:t>Where in Connecticut are marijuana licenses concentrated?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22FFE-D608-4A6F-7C7E-E475A66510D7}"/>
              </a:ext>
            </a:extLst>
          </p:cNvPr>
          <p:cNvSpPr txBox="1"/>
          <p:nvPr/>
        </p:nvSpPr>
        <p:spPr>
          <a:xfrm>
            <a:off x="7882758" y="6550223"/>
            <a:ext cx="4374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Map Visual - Medical_Marijuana_Dispensary_License.csv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7EB02-6790-6CB4-AA09-0B53A6266EC7}"/>
              </a:ext>
            </a:extLst>
          </p:cNvPr>
          <p:cNvSpPr txBox="1"/>
          <p:nvPr/>
        </p:nvSpPr>
        <p:spPr>
          <a:xfrm>
            <a:off x="3583371" y="419742"/>
            <a:ext cx="525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804532-6B64-AAF5-AAE3-6A0A861A0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1" y="4926650"/>
            <a:ext cx="3361439" cy="1418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739158-36C1-6AF9-A280-E429105F9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830" y="1261962"/>
            <a:ext cx="6116119" cy="489289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sign on it&#10;&#10;Description automatically generated">
            <a:extLst>
              <a:ext uri="{FF2B5EF4-FFF2-40B4-BE49-F238E27FC236}">
                <a16:creationId xmlns:a16="http://schemas.microsoft.com/office/drawing/2014/main" id="{15731EC2-8AFE-D83B-C800-766DF7144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104" y="-124691"/>
            <a:ext cx="12254208" cy="791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4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8F7F77-102A-F22B-A7FC-E399901AE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90103"/>
            <a:ext cx="7772400" cy="4277793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656056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D41D2A5-8196-6E39-0123-0A6B7C66B9B8}"/>
              </a:ext>
            </a:extLst>
          </p:cNvPr>
          <p:cNvCxnSpPr>
            <a:cxnSpLocks/>
          </p:cNvCxnSpPr>
          <p:nvPr/>
        </p:nvCxnSpPr>
        <p:spPr>
          <a:xfrm>
            <a:off x="6013949" y="1215400"/>
            <a:ext cx="912601" cy="31805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141025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61FA1A-1C15-2AB8-396A-23474502E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220" y="2004170"/>
            <a:ext cx="6471557" cy="4523338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97F73DD1-41C1-F52B-6E7E-963BD629B0FF}"/>
              </a:ext>
            </a:extLst>
          </p:cNvPr>
          <p:cNvSpPr/>
          <p:nvPr/>
        </p:nvSpPr>
        <p:spPr>
          <a:xfrm>
            <a:off x="4158827" y="4599092"/>
            <a:ext cx="2018453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5A9FE85-4712-CCD9-4474-EF646A895646}"/>
              </a:ext>
            </a:extLst>
          </p:cNvPr>
          <p:cNvSpPr/>
          <p:nvPr/>
        </p:nvSpPr>
        <p:spPr>
          <a:xfrm>
            <a:off x="4158826" y="6268718"/>
            <a:ext cx="3377657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DF9DCAD7-34B1-E2BC-7BF6-E423AB246903}"/>
              </a:ext>
            </a:extLst>
          </p:cNvPr>
          <p:cNvSpPr/>
          <p:nvPr/>
        </p:nvSpPr>
        <p:spPr>
          <a:xfrm>
            <a:off x="4158826" y="3845354"/>
            <a:ext cx="3108960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4A4EEC3F-1481-4B1A-32BC-DB6CA68E1B51}"/>
              </a:ext>
            </a:extLst>
          </p:cNvPr>
          <p:cNvSpPr/>
          <p:nvPr/>
        </p:nvSpPr>
        <p:spPr>
          <a:xfrm>
            <a:off x="4158826" y="3017519"/>
            <a:ext cx="1652694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0EF399-CBF0-7427-2310-F2F27C83A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84" y="412778"/>
            <a:ext cx="4171881" cy="33014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17" y="700676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420" y="961626"/>
            <a:ext cx="5499100" cy="292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9C0C0CB-5DDD-DDF2-E902-2FC5268493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0" y="1248605"/>
            <a:ext cx="69596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403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44512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What the Data Means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782" y="929277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0591" y="3325501"/>
            <a:ext cx="5499100" cy="292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120F7D-B8D5-4B5B-5CF0-3ED313879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3942" y="1188730"/>
            <a:ext cx="7772400" cy="20384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52A816-B3D2-D9A4-F968-4374A4893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4508" y="3715950"/>
            <a:ext cx="4837037" cy="260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30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8960" y="5473288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9858960" y="1497039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695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444342" y="4751905"/>
            <a:ext cx="243674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2798293" y="4672583"/>
            <a:ext cx="233740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100, then </a:t>
            </a:r>
            <a:r>
              <a:rPr lang="en-US" sz="160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200, then </a:t>
            </a:r>
            <a:r>
              <a:rPr lang="en-US" sz="160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Else </a:t>
            </a:r>
            <a:r>
              <a:rPr lang="en-US" sz="160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/>
              <a:t>Social Equity Score </a:t>
            </a:r>
            <a:r>
              <a:rPr lang="en-US"/>
              <a:t>= </a:t>
            </a:r>
            <a:r>
              <a:rPr lang="en-US" sz="1400" err="1"/>
              <a:t>mergedCountiesTables</a:t>
            </a:r>
            <a:r>
              <a:rPr lang="en-US" sz="1400"/>
              <a:t>[</a:t>
            </a:r>
            <a:r>
              <a:rPr lang="en-US" sz="140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200036" y="409165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Medically Endorsed Cannabis Retailers and Social Equity Score by Washington County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00545" y="921607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washingtonCounties</a:t>
            </a:r>
            <a:r>
              <a:rPr lang="en-US" sz="1600">
                <a:solidFill>
                  <a:schemeClr val="accent6">
                    <a:lumMod val="60000"/>
                    <a:lumOff val="40000"/>
                  </a:schemeClr>
                </a:solidFill>
              </a:rPr>
              <a:t>[‘County’] </a:t>
            </a:r>
            <a:r>
              <a:rPr lang="en-US" sz="160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997793" y="4864482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>
                <a:solidFill>
                  <a:srgbClr val="FFC000"/>
                </a:solidFill>
              </a:rPr>
              <a:t>np.where</a:t>
            </a:r>
            <a:r>
              <a:rPr lang="en-US" sz="1600" dirty="0">
                <a:solidFill>
                  <a:srgbClr val="FFC000"/>
                </a:solidFill>
              </a:rPr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875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mergedEnforcementData</a:t>
            </a:r>
            <a:r>
              <a:rPr lang="en-US" sz="1600">
                <a:solidFill>
                  <a:schemeClr val="bg1"/>
                </a:solidFill>
              </a:rPr>
              <a:t> </a:t>
            </a:r>
            <a:r>
              <a:rPr lang="en-US" sz="160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mergedMapData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  </a:t>
            </a:r>
            <a:r>
              <a:rPr lang="en-US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3451419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Implementation: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/>
              <a:t>Using the axis’s .</a:t>
            </a:r>
            <a:r>
              <a:rPr lang="en-US" err="1"/>
              <a:t>add_artist</a:t>
            </a:r>
            <a:r>
              <a:rPr lang="en-US"/>
              <a:t>() attribute with a Lambda function.</a:t>
            </a:r>
          </a:p>
          <a:p>
            <a:r>
              <a:rPr lang="en-US"/>
              <a:t>Each artist is a </a:t>
            </a:r>
            <a:r>
              <a:rPr lang="en-US" err="1"/>
              <a:t>OffsetImage</a:t>
            </a:r>
            <a:r>
              <a:rPr lang="en-US"/>
              <a:t> inside a </a:t>
            </a:r>
            <a:r>
              <a:rPr lang="en-US" err="1"/>
              <a:t>AnnotationBbox</a:t>
            </a:r>
            <a:r>
              <a:rPr lang="en-US"/>
              <a:t> both imported from </a:t>
            </a:r>
            <a:r>
              <a:rPr lang="en-US" err="1"/>
              <a:t>matplotlib.offsetbox</a:t>
            </a:r>
            <a:r>
              <a:rPr lang="en-US"/>
              <a:t> library.</a:t>
            </a:r>
          </a:p>
          <a:p>
            <a:r>
              <a:rPr lang="en-US"/>
              <a:t>Zoom is controlled by the current </a:t>
            </a:r>
            <a:r>
              <a:rPr lang="en-US" err="1"/>
              <a:t>totalCount</a:t>
            </a:r>
            <a:r>
              <a:rPr lang="en-US"/>
              <a:t> variable in </a:t>
            </a:r>
            <a:r>
              <a:rPr lang="en-US" err="1"/>
              <a:t>mergedMapData</a:t>
            </a:r>
            <a:r>
              <a:rPr lang="en-US"/>
              <a:t> </a:t>
            </a:r>
            <a:r>
              <a:rPr lang="en-US" err="1"/>
              <a:t>DataFrame</a:t>
            </a:r>
            <a:r>
              <a:rPr lang="en-US"/>
              <a:t>.</a:t>
            </a:r>
          </a:p>
          <a:p>
            <a:r>
              <a:rPr lang="en-US"/>
              <a:t>	- if </a:t>
            </a:r>
            <a:r>
              <a:rPr lang="en-US" err="1"/>
              <a:t>pd.notna</a:t>
            </a:r>
            <a:r>
              <a:rPr lang="en-US"/>
              <a:t>(</a:t>
            </a:r>
            <a:r>
              <a:rPr lang="en-US" err="1"/>
              <a:t>x.totalCount</a:t>
            </a:r>
            <a:r>
              <a:rPr lang="en-US"/>
              <a:t>) then Zoom= 0.0009 * </a:t>
            </a:r>
            <a:r>
              <a:rPr lang="en-US" err="1"/>
              <a:t>x.totalCount</a:t>
            </a:r>
            <a:endParaRPr lang="en-US"/>
          </a:p>
          <a:p>
            <a:r>
              <a:rPr lang="en-US"/>
              <a:t>	- else Zoom=0.02</a:t>
            </a:r>
          </a:p>
          <a:p>
            <a:r>
              <a:rPr lang="en-US" err="1"/>
              <a:t>xy</a:t>
            </a:r>
            <a:r>
              <a:rPr lang="en-US"/>
              <a:t> = ( x =  centroid of x coord, (y = centroid of y coord – 0.1) ) and no frame. </a:t>
            </a:r>
          </a:p>
          <a:p>
            <a:r>
              <a:rPr lang="en-US"/>
              <a:t>	- Subtracting -0.1 from y centroid to move </a:t>
            </a:r>
            <a:r>
              <a:rPr lang="en-US" err="1"/>
              <a:t>policeBadge.png</a:t>
            </a:r>
            <a:r>
              <a:rPr lang="en-US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Washington Counties: </a:t>
            </a:r>
          </a:p>
          <a:p>
            <a:pPr algn="ctr"/>
            <a:r>
              <a:rPr lang="en-US" sz="360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Moderate amount in Pierce, Grant, Adams, and Pend </a:t>
            </a:r>
            <a:r>
              <a:rPr lang="en-US" err="1"/>
              <a:t>Orelle</a:t>
            </a:r>
            <a:r>
              <a:rPr lang="en-US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Gives idea on what counties to focus on helping.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50EDDF-7277-2FAB-ED37-333B00CE1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536" y="1011889"/>
            <a:ext cx="7772400" cy="51477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Related Sales in Washington </a:t>
            </a:r>
          </a:p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D300D6"/>
                </a:solidFill>
              </a:rPr>
              <a:t>Pandas </a:t>
            </a:r>
            <a:r>
              <a:rPr lang="en-US" sz="1600" err="1">
                <a:solidFill>
                  <a:srgbClr val="D300D6"/>
                </a:solidFill>
              </a:rPr>
              <a:t>Dataframe</a:t>
            </a:r>
            <a:r>
              <a:rPr lang="en-US" sz="1600">
                <a:solidFill>
                  <a:srgbClr val="D300D6"/>
                </a:solidFill>
              </a:rPr>
              <a:t> </a:t>
            </a:r>
            <a:r>
              <a:rPr lang="en-US" sz="160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3381905" y="4440256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rgbClr val="D300D6"/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5000995" y="3959205"/>
            <a:ext cx="1" cy="48105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8861" y="4844074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topCounties2018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235200" y="5066955"/>
            <a:ext cx="286899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topTaxCounties1819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232816" cy="19453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subplots_adjust</a:t>
            </a:r>
            <a:endParaRPr lang="en-US" sz="160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3305" y="1778135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304" y="2149571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3304" y="2570310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46725" y="1362637"/>
            <a:ext cx="226974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0480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FuncFormatter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4357858" y="509165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03317" y="1183768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6968" y="1646050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512" y="1989829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7512" y="2324574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2173" y="5455094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8384" y="6344839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4282173" y="595932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Bar(</a:t>
            </a:r>
            <a:r>
              <a:rPr lang="en-US" sz="1600" err="1">
                <a:solidFill>
                  <a:srgbClr val="FFC000"/>
                </a:solidFill>
              </a:rPr>
              <a:t>x,y,data</a:t>
            </a:r>
            <a:r>
              <a:rPr lang="en-US" sz="1600">
                <a:solidFill>
                  <a:srgbClr val="FFC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713264" y="1180104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Third Row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279719-00AC-54F7-4A7D-D7A66CB1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82" y="652531"/>
            <a:ext cx="6213405" cy="44391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66528-C92C-3950-CE12-82C92B40B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3216" y="1611933"/>
            <a:ext cx="622300" cy="254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75D78E1-1340-C5F8-47AC-E650C7116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566" y="1933247"/>
            <a:ext cx="609600" cy="2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12AE7-F44B-3F36-4283-AE022B6ED2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3216" y="2255910"/>
            <a:ext cx="596900" cy="2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E1F3222-FD32-1FCC-116C-09FB784098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0018" y="3983696"/>
            <a:ext cx="2120900" cy="304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C9432D-E199-B6DF-0AAA-5DEB464CBF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8138" y="2664498"/>
            <a:ext cx="2286000" cy="292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349254-E80D-5D15-A774-A97538D6E7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15387" y="716365"/>
            <a:ext cx="1168400" cy="24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7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859" y="3059357"/>
            <a:ext cx="2724281" cy="739285"/>
          </a:xfrm>
        </p:spPr>
        <p:txBody>
          <a:bodyPr>
            <a:normAutofit fontScale="90000"/>
          </a:bodyPr>
          <a:lstStyle/>
          <a:p>
            <a:r>
              <a:rPr lang="en-US" b="1"/>
              <a:t>Thank you!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29</TotalTime>
  <Words>1953</Words>
  <Application>Microsoft Macintosh PowerPoint</Application>
  <PresentationFormat>Widescreen</PresentationFormat>
  <Paragraphs>281</Paragraphs>
  <Slides>41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Technologies utilized</vt:lpstr>
      <vt:lpstr>Visual 1 Alex Boyce  </vt:lpstr>
      <vt:lpstr>About the Data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PowerPoint Presentation</vt:lpstr>
      <vt:lpstr>PowerPoint Presentation</vt:lpstr>
      <vt:lpstr>Bonus MAP Visual Alex Boyce  </vt:lpstr>
      <vt:lpstr>Bonus Map!</vt:lpstr>
      <vt:lpstr>PowerPoint Presentation</vt:lpstr>
      <vt:lpstr>Visual 4 Kyle Dennewith  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Kyle Dennewith</cp:lastModifiedBy>
  <cp:revision>3</cp:revision>
  <dcterms:created xsi:type="dcterms:W3CDTF">2025-05-31T05:22:09Z</dcterms:created>
  <dcterms:modified xsi:type="dcterms:W3CDTF">2025-06-06T18:06:35Z</dcterms:modified>
</cp:coreProperties>
</file>