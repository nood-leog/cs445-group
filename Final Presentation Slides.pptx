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57" r:id="rId1"/>
  </p:sldMasterIdLst>
  <p:notesMasterIdLst>
    <p:notesMasterId r:id="rId24"/>
  </p:notesMasterIdLst>
  <p:sldIdLst>
    <p:sldId id="280" r:id="rId2"/>
    <p:sldId id="279" r:id="rId3"/>
    <p:sldId id="278" r:id="rId4"/>
    <p:sldId id="256" r:id="rId5"/>
    <p:sldId id="258" r:id="rId6"/>
    <p:sldId id="267" r:id="rId7"/>
    <p:sldId id="268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69" r:id="rId16"/>
    <p:sldId id="259" r:id="rId17"/>
    <p:sldId id="261" r:id="rId18"/>
    <p:sldId id="263" r:id="rId19"/>
    <p:sldId id="264" r:id="rId20"/>
    <p:sldId id="260" r:id="rId21"/>
    <p:sldId id="265" r:id="rId22"/>
    <p:sldId id="266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BC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35"/>
    <p:restoredTop sz="94710"/>
  </p:normalViewPr>
  <p:slideViewPr>
    <p:cSldViewPr snapToGrid="0">
      <p:cViewPr varScale="1">
        <p:scale>
          <a:sx n="82" d="100"/>
          <a:sy n="82" d="100"/>
        </p:scale>
        <p:origin x="126" y="5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914EBE-97E2-B247-ACBA-33F49AB8AA75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EAC5BF-9521-FD41-A567-1E381EF3F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474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8105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6072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8772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1513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4366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257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154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909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3291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8774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9315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938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669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050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4100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969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6/1/2025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27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6/1/2025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12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6/1/2025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521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993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894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35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6455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3394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6" r:id="rId1"/>
    <p:sldLayoutId id="2147483947" r:id="rId2"/>
    <p:sldLayoutId id="2147483948" r:id="rId3"/>
    <p:sldLayoutId id="2147483949" r:id="rId4"/>
    <p:sldLayoutId id="2147483950" r:id="rId5"/>
    <p:sldLayoutId id="2147483956" r:id="rId6"/>
    <p:sldLayoutId id="2147483951" r:id="rId7"/>
    <p:sldLayoutId id="2147483952" r:id="rId8"/>
    <p:sldLayoutId id="2147483953" r:id="rId9"/>
    <p:sldLayoutId id="2147483955" r:id="rId10"/>
    <p:sldLayoutId id="2147483954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22AB34F-E75C-451A-8410-05B6C249E9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648484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1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38375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M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3425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22AB34F-E75C-451A-8410-05B6C249E9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648484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2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38375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Medically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923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22AB34F-E75C-451A-8410-05B6C249E9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648484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3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38375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Medically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808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22AB34F-E75C-451A-8410-05B6C249E9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648484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4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38375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Medically Endorsed Cannabis Retailers </a:t>
            </a:r>
          </a:p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and </a:t>
            </a:r>
          </a:p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Social Equity Score by </a:t>
            </a:r>
          </a:p>
          <a:p>
            <a:pPr algn="ctr"/>
            <a:r>
              <a:rPr lang="en-US" sz="3300" dirty="0">
                <a:solidFill>
                  <a:schemeClr val="bg2">
                    <a:lumMod val="25000"/>
                    <a:lumOff val="75000"/>
                  </a:schemeClr>
                </a:solidFill>
              </a:rPr>
              <a:t>Washington County 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62704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D7B6BE-A4E0-4483-BEC5-493AC3E5D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4596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98C535-F6D3-7CA2-453A-03876ED50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560" y="534831"/>
            <a:ext cx="7772400" cy="19244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012A2E-B03A-12B0-4FA0-4E384D3B5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6560" y="2448658"/>
            <a:ext cx="7772400" cy="44093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E940D8F-4095-D973-78A1-5CC4B02DBE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5887" y="5811842"/>
            <a:ext cx="2626113" cy="16867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53EC17-FDC9-926F-72CD-CE73E74185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853" y="1870570"/>
            <a:ext cx="2995147" cy="15160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19105" y="87330"/>
            <a:ext cx="31633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medicallyEndorsedRetailers</a:t>
            </a:r>
            <a:r>
              <a:rPr lang="en-US" sz="1600" dirty="0"/>
              <a:t> TABLES: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9851260" y="5477814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endorsedCounties</a:t>
            </a:r>
            <a:r>
              <a:rPr lang="en-US" sz="1600" dirty="0"/>
              <a:t> TABLE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64542A2-DB07-3208-B3B0-290031D3B3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409" y="708840"/>
            <a:ext cx="1225316" cy="145347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BC19CCB-D30F-2F15-8057-F32AC23C2DD2}"/>
              </a:ext>
            </a:extLst>
          </p:cNvPr>
          <p:cNvSpPr txBox="1"/>
          <p:nvPr/>
        </p:nvSpPr>
        <p:spPr>
          <a:xfrm>
            <a:off x="10195190" y="1586281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socialES</a:t>
            </a:r>
            <a:r>
              <a:rPr lang="en-US" sz="1600" dirty="0"/>
              <a:t> TABLE: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AE51C7A-449C-B633-E172-4B4B58B1DB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363" y="2199720"/>
            <a:ext cx="1220362" cy="138753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20276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D7B6BE-A4E0-4483-BEC5-493AC3E5D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4596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E940D8F-4095-D973-78A1-5CC4B02DB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548" y="5065117"/>
            <a:ext cx="2626113" cy="16867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53EC17-FDC9-926F-72CD-CE73E74185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293" y="5030997"/>
            <a:ext cx="2995147" cy="151606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6585902" y="4740824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endorsedCounties</a:t>
            </a:r>
            <a:r>
              <a:rPr lang="en-US" sz="1600" dirty="0"/>
              <a:t> TABLE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C19CCB-D30F-2F15-8057-F32AC23C2DD2}"/>
              </a:ext>
            </a:extLst>
          </p:cNvPr>
          <p:cNvSpPr txBox="1"/>
          <p:nvPr/>
        </p:nvSpPr>
        <p:spPr>
          <a:xfrm>
            <a:off x="3422572" y="4734454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socialES</a:t>
            </a:r>
            <a:r>
              <a:rPr lang="en-US" sz="1600" dirty="0"/>
              <a:t> TABLE: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8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12B5E0-105A-FBCD-304B-230AB4DC32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6282" y="598251"/>
            <a:ext cx="5544805" cy="16458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76BB7-0B13-6DBD-3A7B-B3E0F46852E2}"/>
              </a:ext>
            </a:extLst>
          </p:cNvPr>
          <p:cNvSpPr txBox="1"/>
          <p:nvPr/>
        </p:nvSpPr>
        <p:spPr>
          <a:xfrm>
            <a:off x="5708588" y="5604362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Merge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DD4076-C2A6-6096-F86F-4C8A739FC904}"/>
              </a:ext>
            </a:extLst>
          </p:cNvPr>
          <p:cNvCxnSpPr>
            <a:cxnSpLocks/>
          </p:cNvCxnSpPr>
          <p:nvPr/>
        </p:nvCxnSpPr>
        <p:spPr>
          <a:xfrm flipH="1">
            <a:off x="5793440" y="5973694"/>
            <a:ext cx="7924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B3C2133-EAB3-AAA9-A405-0AA3FB21ACD1}"/>
              </a:ext>
            </a:extLst>
          </p:cNvPr>
          <p:cNvSpPr txBox="1"/>
          <p:nvPr/>
        </p:nvSpPr>
        <p:spPr>
          <a:xfrm>
            <a:off x="2720629" y="2263840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county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3B4A636-7C02-6F9E-AEF4-21AA150E13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2438" y="2336978"/>
            <a:ext cx="3965044" cy="241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354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D7B6BE-A4E0-4483-BEC5-493AC3E5D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4596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624491" y="4949300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Social Equity Score &lt;= 100, then </a:t>
            </a:r>
            <a:r>
              <a:rPr lang="en-US" sz="1600" dirty="0">
                <a:solidFill>
                  <a:schemeClr val="accent6"/>
                </a:solidFill>
              </a:rPr>
              <a:t>green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8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461D9C-311F-7AE6-ED17-3D1B7386F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703409"/>
            <a:ext cx="7772400" cy="31622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1D0D30-6A41-52C8-1245-1E5B564E89AF}"/>
              </a:ext>
            </a:extLst>
          </p:cNvPr>
          <p:cNvSpPr txBox="1"/>
          <p:nvPr/>
        </p:nvSpPr>
        <p:spPr>
          <a:xfrm>
            <a:off x="624491" y="5322628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Social Equity Score &lt;= 200, then </a:t>
            </a:r>
            <a:r>
              <a:rPr lang="en-US" sz="1600" dirty="0">
                <a:solidFill>
                  <a:srgbClr val="FFC000"/>
                </a:solidFill>
              </a:rPr>
              <a:t>yellow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624491" y="5703236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Else </a:t>
            </a:r>
            <a:r>
              <a:rPr lang="en-US" sz="1600" dirty="0">
                <a:solidFill>
                  <a:srgbClr val="FF0000"/>
                </a:solidFill>
              </a:rPr>
              <a:t>red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C756E-6EC3-7A15-E137-7C9282323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036" y="4419430"/>
            <a:ext cx="3965044" cy="241280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5E79889-250A-2A6A-2278-C2EA1D0D8FD3}"/>
              </a:ext>
            </a:extLst>
          </p:cNvPr>
          <p:cNvSpPr txBox="1"/>
          <p:nvPr/>
        </p:nvSpPr>
        <p:spPr>
          <a:xfrm>
            <a:off x="624491" y="4569051"/>
            <a:ext cx="5484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Social Equity Score </a:t>
            </a:r>
            <a:r>
              <a:rPr lang="en-US" dirty="0"/>
              <a:t>= </a:t>
            </a:r>
            <a:r>
              <a:rPr lang="en-US" sz="1400" dirty="0" err="1"/>
              <a:t>mergedCountiesTables</a:t>
            </a:r>
            <a:r>
              <a:rPr lang="en-US" sz="1400" dirty="0"/>
              <a:t>[</a:t>
            </a:r>
            <a:r>
              <a:rPr lang="en-US" sz="1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‘Lowest Score’]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7B3C8E-1548-F694-3F58-8EA7ECBF914B}"/>
              </a:ext>
            </a:extLst>
          </p:cNvPr>
          <p:cNvSpPr txBox="1"/>
          <p:nvPr/>
        </p:nvSpPr>
        <p:spPr>
          <a:xfrm>
            <a:off x="6598571" y="4140582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mergedCountiesTables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4040239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D7B6BE-A4E0-4483-BEC5-493AC3E5D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4596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Medically Endorsed Cannabis Retailers and Social Equity Score by Washington County</a:t>
            </a:r>
            <a:endParaRPr lang="en-US" sz="8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9171083" y="2358442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mergedCountiesTables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C756E-6EC3-7A15-E137-7C9282323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320" y="2696996"/>
            <a:ext cx="3644680" cy="2217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C6DC999-D3F9-8685-F2EA-74C4AE46D0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6674" y="514717"/>
            <a:ext cx="6818872" cy="4400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61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/>
              <a:t>Medically Endorsed Cannabis Retailers and Social Equity Score by Washington County</a:t>
            </a:r>
            <a:endParaRPr lang="en-US" sz="60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0" y="1154764"/>
            <a:ext cx="290362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King County has the most Facilities which relates to later Sales/Tax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There are some counties including Adams County that have 0 Medically Endorsed Facilities.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Even with Low Equity scores many counties have facilities.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9457D9-2C66-30B5-4D7A-A412ABABD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3625" y="604729"/>
            <a:ext cx="7222656" cy="56298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9A29529-86E6-36AB-A079-81B992386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6" y="5402081"/>
            <a:ext cx="4242676" cy="12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731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22AB34F-E75C-451A-8410-05B6C249E9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648484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5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38375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Washington Counties: </a:t>
            </a:r>
          </a:p>
          <a:p>
            <a:pPr algn="ctr"/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Police Activity and Social Equity</a:t>
            </a:r>
          </a:p>
          <a:p>
            <a:pPr algn="ctr"/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9610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Washington Counties: </a:t>
            </a:r>
          </a:p>
          <a:p>
            <a:pPr algn="ctr"/>
            <a:r>
              <a:rPr lang="en-US" dirty="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111593" y="4814503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washingtonCounties</a:t>
            </a:r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[‘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County</a:t>
            </a:r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’]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F651D0-6040-AD97-B4FD-CEAC329F6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693" y="598251"/>
            <a:ext cx="8364710" cy="39565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A85DEE-5096-E500-CE6A-B51D1849E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19" y="5153057"/>
            <a:ext cx="1301526" cy="14786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D4D862-F423-14C8-FCF1-2A2BE67A7D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9060" y="5153057"/>
            <a:ext cx="994415" cy="15666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56D390-5B0C-D336-B0F6-95CBD6C72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820" y="5203036"/>
            <a:ext cx="5308107" cy="14667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A2344C4-B91A-11D2-78A3-C555E2360531}"/>
              </a:ext>
            </a:extLst>
          </p:cNvPr>
          <p:cNvSpPr txBox="1"/>
          <p:nvPr/>
        </p:nvSpPr>
        <p:spPr>
          <a:xfrm>
            <a:off x="3767820" y="4606754"/>
            <a:ext cx="47909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mergedEnforcementCounties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 after </a:t>
            </a:r>
            <a:r>
              <a:rPr lang="en-US" sz="1600" dirty="0" err="1"/>
              <a:t>np.where</a:t>
            </a:r>
            <a:r>
              <a:rPr lang="en-US" sz="1600" dirty="0"/>
              <a:t>():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B64F9EB-D7C4-7EEE-A57B-9A35D797E690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1459745" y="5892359"/>
            <a:ext cx="339315" cy="44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90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32AE8BA1-ADA9-9E94-9ADA-AEDA7D967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853" y="4461159"/>
            <a:ext cx="5529072" cy="11960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Washington Counties: </a:t>
            </a:r>
          </a:p>
          <a:p>
            <a:pPr algn="ctr"/>
            <a:r>
              <a:rPr lang="en-US" dirty="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2087520" y="4148210"/>
            <a:ext cx="3886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mergedEnforcementData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2344C4-B91A-11D2-78A3-C555E2360531}"/>
              </a:ext>
            </a:extLst>
          </p:cNvPr>
          <p:cNvSpPr txBox="1"/>
          <p:nvPr/>
        </p:nvSpPr>
        <p:spPr>
          <a:xfrm>
            <a:off x="6551289" y="3043778"/>
            <a:ext cx="47909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mergedMapData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ADF388-5EB6-CE66-C742-49477E24C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49259"/>
            <a:ext cx="6172960" cy="33857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5679CC-0793-429B-1971-C373BA42D6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657216"/>
            <a:ext cx="4462765" cy="12097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235813-00AE-27AB-4F1F-1B1518DB82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9824" y="5657217"/>
            <a:ext cx="6742176" cy="121071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C893B92-2219-F36A-09C8-F678953C0E17}"/>
              </a:ext>
            </a:extLst>
          </p:cNvPr>
          <p:cNvSpPr txBox="1"/>
          <p:nvPr/>
        </p:nvSpPr>
        <p:spPr>
          <a:xfrm>
            <a:off x="4462765" y="5995770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Merge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33E2D9-4871-7C60-0440-E46ADFFB6432}"/>
              </a:ext>
            </a:extLst>
          </p:cNvPr>
          <p:cNvCxnSpPr>
            <a:cxnSpLocks/>
          </p:cNvCxnSpPr>
          <p:nvPr/>
        </p:nvCxnSpPr>
        <p:spPr>
          <a:xfrm flipH="1">
            <a:off x="4547617" y="6365102"/>
            <a:ext cx="7924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2EC91676-572A-E289-FEA2-089A7FFEF91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3637" y="2016282"/>
            <a:ext cx="2422400" cy="131984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6D849EF-1CE4-1A1A-33DF-0E5B70BBA4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4509" y="910296"/>
            <a:ext cx="5997491" cy="10769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BAC41D6-B84F-B382-4829-8EB79F37CA1B}"/>
              </a:ext>
            </a:extLst>
          </p:cNvPr>
          <p:cNvSpPr txBox="1"/>
          <p:nvPr/>
        </p:nvSpPr>
        <p:spPr>
          <a:xfrm rot="19824152">
            <a:off x="10162302" y="1347287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Merge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20F68F-345D-1DD1-3B83-B072BE31CF26}"/>
              </a:ext>
            </a:extLst>
          </p:cNvPr>
          <p:cNvCxnSpPr>
            <a:cxnSpLocks/>
          </p:cNvCxnSpPr>
          <p:nvPr/>
        </p:nvCxnSpPr>
        <p:spPr>
          <a:xfrm flipV="1">
            <a:off x="10290048" y="1083100"/>
            <a:ext cx="1483654" cy="9583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2FA35168-1CAD-7B76-AFD9-18943ABE7A4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9810" y="3375490"/>
            <a:ext cx="4532582" cy="1068349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3E2DCE0-A57F-9640-E999-2B757EA2CF4B}"/>
              </a:ext>
            </a:extLst>
          </p:cNvPr>
          <p:cNvCxnSpPr>
            <a:cxnSpLocks/>
          </p:cNvCxnSpPr>
          <p:nvPr/>
        </p:nvCxnSpPr>
        <p:spPr>
          <a:xfrm>
            <a:off x="6540515" y="2026649"/>
            <a:ext cx="2933560" cy="13094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580B2D4-4868-168D-6661-5E1B0B2027A0}"/>
              </a:ext>
            </a:extLst>
          </p:cNvPr>
          <p:cNvCxnSpPr>
            <a:cxnSpLocks/>
          </p:cNvCxnSpPr>
          <p:nvPr/>
        </p:nvCxnSpPr>
        <p:spPr>
          <a:xfrm flipV="1">
            <a:off x="524256" y="4607944"/>
            <a:ext cx="861597" cy="10492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388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154214"/>
            <a:ext cx="31633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 Implementation: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Washington Counties: </a:t>
            </a:r>
          </a:p>
          <a:p>
            <a:pPr algn="ctr"/>
            <a:r>
              <a:rPr lang="en-US" dirty="0"/>
              <a:t>Police Activity and Social Equity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AC41D6-B84F-B382-4829-8EB79F37CA1B}"/>
              </a:ext>
            </a:extLst>
          </p:cNvPr>
          <p:cNvSpPr txBox="1"/>
          <p:nvPr/>
        </p:nvSpPr>
        <p:spPr>
          <a:xfrm rot="19824152">
            <a:off x="10162302" y="1347287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Merge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C94A78-13DA-CF3F-4219-CC5D4A1D0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485" y="569712"/>
            <a:ext cx="7772400" cy="37071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E9873D-8F6D-5A31-1944-2E5C5251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80" y="4275892"/>
            <a:ext cx="10759299" cy="4930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788C91E-A43E-B2A6-4DBC-F8AB7841068C}"/>
              </a:ext>
            </a:extLst>
          </p:cNvPr>
          <p:cNvSpPr txBox="1"/>
          <p:nvPr/>
        </p:nvSpPr>
        <p:spPr>
          <a:xfrm>
            <a:off x="633680" y="4741392"/>
            <a:ext cx="1028358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Using the axis’s .</a:t>
            </a:r>
            <a:r>
              <a:rPr lang="en-US" dirty="0" err="1"/>
              <a:t>add_artist</a:t>
            </a:r>
            <a:r>
              <a:rPr lang="en-US" dirty="0"/>
              <a:t>() attribute with a Lambda function.</a:t>
            </a:r>
          </a:p>
          <a:p>
            <a:r>
              <a:rPr lang="en-US" dirty="0"/>
              <a:t>Each artist is a </a:t>
            </a:r>
            <a:r>
              <a:rPr lang="en-US" dirty="0" err="1"/>
              <a:t>OffsetImage</a:t>
            </a:r>
            <a:r>
              <a:rPr lang="en-US" dirty="0"/>
              <a:t> inside a </a:t>
            </a:r>
            <a:r>
              <a:rPr lang="en-US" dirty="0" err="1"/>
              <a:t>AnnotationBbox</a:t>
            </a:r>
            <a:r>
              <a:rPr lang="en-US" dirty="0"/>
              <a:t> both imported from </a:t>
            </a:r>
            <a:r>
              <a:rPr lang="en-US" dirty="0" err="1"/>
              <a:t>matplotlib.offsetbox</a:t>
            </a:r>
            <a:r>
              <a:rPr lang="en-US" dirty="0"/>
              <a:t> library.</a:t>
            </a:r>
          </a:p>
          <a:p>
            <a:r>
              <a:rPr lang="en-US" dirty="0"/>
              <a:t>Zoom is controlled by the current </a:t>
            </a:r>
            <a:r>
              <a:rPr lang="en-US" dirty="0" err="1"/>
              <a:t>totalCount</a:t>
            </a:r>
            <a:r>
              <a:rPr lang="en-US" dirty="0"/>
              <a:t> variable in </a:t>
            </a:r>
            <a:r>
              <a:rPr lang="en-US" dirty="0" err="1"/>
              <a:t>mergedMapData</a:t>
            </a:r>
            <a:r>
              <a:rPr lang="en-US" dirty="0"/>
              <a:t> </a:t>
            </a:r>
            <a:r>
              <a:rPr lang="en-US" dirty="0" err="1"/>
              <a:t>DataFrame</a:t>
            </a:r>
            <a:r>
              <a:rPr lang="en-US" dirty="0"/>
              <a:t>.</a:t>
            </a:r>
          </a:p>
          <a:p>
            <a:r>
              <a:rPr lang="en-US" dirty="0"/>
              <a:t>	- if </a:t>
            </a:r>
            <a:r>
              <a:rPr lang="en-US" dirty="0" err="1"/>
              <a:t>pd.notna</a:t>
            </a:r>
            <a:r>
              <a:rPr lang="en-US" dirty="0"/>
              <a:t>(</a:t>
            </a:r>
            <a:r>
              <a:rPr lang="en-US" dirty="0" err="1"/>
              <a:t>x.totalCount</a:t>
            </a:r>
            <a:r>
              <a:rPr lang="en-US" dirty="0"/>
              <a:t>) then Zoom= 0.0009 * </a:t>
            </a:r>
            <a:r>
              <a:rPr lang="en-US" dirty="0" err="1"/>
              <a:t>x.totalCount</a:t>
            </a:r>
            <a:endParaRPr lang="en-US" dirty="0"/>
          </a:p>
          <a:p>
            <a:r>
              <a:rPr lang="en-US" dirty="0"/>
              <a:t>	- else Zoom=0.02</a:t>
            </a:r>
          </a:p>
          <a:p>
            <a:r>
              <a:rPr lang="en-US" dirty="0" err="1"/>
              <a:t>xy</a:t>
            </a:r>
            <a:r>
              <a:rPr lang="en-US" dirty="0"/>
              <a:t> = ( x =  centroid of x coord, (y = centroid of y coord – 0.1) ) and no frame. </a:t>
            </a:r>
          </a:p>
          <a:p>
            <a:r>
              <a:rPr lang="en-US" dirty="0"/>
              <a:t>	- Subtracting -0.1 from y centroid to move </a:t>
            </a:r>
            <a:r>
              <a:rPr lang="en-US" dirty="0" err="1"/>
              <a:t>policeBadge.png</a:t>
            </a:r>
            <a:r>
              <a:rPr lang="en-US" dirty="0"/>
              <a:t> under text</a:t>
            </a:r>
          </a:p>
        </p:txBody>
      </p:sp>
    </p:spTree>
    <p:extLst>
      <p:ext uri="{BB962C8B-B14F-4D97-AF65-F5344CB8AC3E}">
        <p14:creationId xmlns:p14="http://schemas.microsoft.com/office/powerpoint/2010/main" val="136173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dirty="0"/>
              <a:t>Washington Counties: </a:t>
            </a:r>
          </a:p>
          <a:p>
            <a:pPr algn="ctr"/>
            <a:r>
              <a:rPr lang="en-US" sz="3600" dirty="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0" y="1011889"/>
            <a:ext cx="2754536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Cannabis related enforcement is very prevalent in Clark, Kitsap, and King county.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Moderate amount in Pierce, Grant, Adams, and Pend </a:t>
            </a:r>
            <a:r>
              <a:rPr lang="en-US" dirty="0" err="1"/>
              <a:t>Orelle</a:t>
            </a:r>
            <a:r>
              <a:rPr lang="en-US" dirty="0"/>
              <a:t> Counties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Yakima, Walla Walla, Franklin counties have a high social equity score but low cannabis related police activity.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Gives idea on what counties to focus on helping.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109756-98F9-81B4-1DA6-C52F7895D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6849" y="604729"/>
            <a:ext cx="7772400" cy="52548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305369C-C165-2E70-F147-E7AD72FCA8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605" y="5510964"/>
            <a:ext cx="4242676" cy="12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88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22AB34F-E75C-451A-8410-05B6C249E9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648484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6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0438375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0" dirty="0">
                <a:solidFill>
                  <a:schemeClr val="bg2">
                    <a:lumMod val="25000"/>
                    <a:lumOff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Total Cannabis </a:t>
            </a:r>
            <a:r>
              <a:rPr lang="en-US" sz="3200" b="0" dirty="0">
                <a:solidFill>
                  <a:srgbClr val="A5BCEB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Related</a:t>
            </a:r>
            <a:r>
              <a:rPr lang="en-US" sz="3200" b="0" dirty="0">
                <a:solidFill>
                  <a:schemeClr val="bg2">
                    <a:lumMod val="25000"/>
                    <a:lumOff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Sales in Washington </a:t>
            </a:r>
          </a:p>
          <a:p>
            <a:pPr algn="ctr"/>
            <a:r>
              <a:rPr lang="en-US" sz="3200" b="0" dirty="0">
                <a:solidFill>
                  <a:schemeClr val="bg2">
                    <a:lumMod val="25000"/>
                    <a:lumOff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by County/Year</a:t>
            </a:r>
          </a:p>
          <a:p>
            <a:pPr algn="ctr"/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50958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-74851" y="716692"/>
            <a:ext cx="3238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3">
                    <a:lumMod val="75000"/>
                  </a:schemeClr>
                </a:solidFill>
              </a:rPr>
              <a:t>Pandas </a:t>
            </a:r>
            <a:r>
              <a:rPr lang="en-US" sz="1600" dirty="0" err="1">
                <a:solidFill>
                  <a:schemeClr val="accent3">
                    <a:lumMod val="75000"/>
                  </a:schemeClr>
                </a:solidFill>
              </a:rPr>
              <a:t>Dataframe</a:t>
            </a:r>
            <a:r>
              <a:rPr lang="en-US" sz="1600" dirty="0">
                <a:solidFill>
                  <a:schemeClr val="accent3">
                    <a:lumMod val="75000"/>
                  </a:schemeClr>
                </a:solidFill>
              </a:rPr>
              <a:t> </a:t>
            </a:r>
            <a:r>
              <a:rPr lang="en-US" sz="1600" dirty="0"/>
              <a:t>TABLE format: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95FA12-C967-E982-025C-756392AE1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286" y="604729"/>
            <a:ext cx="5677427" cy="13242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ADF6E8-A6AC-1D7E-2159-14829C30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485" y="1928933"/>
            <a:ext cx="7772400" cy="492906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</a:t>
            </a:r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County/Year</a:t>
            </a:r>
          </a:p>
          <a:p>
            <a:pPr algn="ctr"/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1918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687860" y="4615041"/>
            <a:ext cx="3238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totalDF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</a:t>
            </a:r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County/Year</a:t>
            </a:r>
          </a:p>
          <a:p>
            <a:pPr algn="ctr"/>
            <a:endParaRPr lang="en-US" sz="34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B798A9-AE5F-E17D-5825-5DE9B5C5E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621" y="604729"/>
            <a:ext cx="7880379" cy="356673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C9D7E57-319E-0500-B4F6-7C4A2CB8B58D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2306951" y="2950464"/>
            <a:ext cx="2155814" cy="16645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A7671D92-EC57-2EE2-536A-01FE28176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91" y="4953595"/>
            <a:ext cx="3073917" cy="184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328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9422954" y="1930845"/>
            <a:ext cx="3238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topCounties2018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County/Year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82F3D9-3858-2192-5459-D125A809A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484" y="907977"/>
            <a:ext cx="7772400" cy="56486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431064-3468-7D69-F444-6AE4F32E5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864" y="2269399"/>
            <a:ext cx="5606193" cy="1159601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D3C656-4D9E-E9CC-0B06-489C6B7AD661}"/>
              </a:ext>
            </a:extLst>
          </p:cNvPr>
          <p:cNvCxnSpPr>
            <a:cxnSpLocks/>
          </p:cNvCxnSpPr>
          <p:nvPr/>
        </p:nvCxnSpPr>
        <p:spPr>
          <a:xfrm flipH="1">
            <a:off x="6468864" y="2100122"/>
            <a:ext cx="3470602" cy="71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041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1866016" y="5066955"/>
            <a:ext cx="3238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topTaxCounties1819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County/Year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D3C656-4D9E-E9CC-0B06-489C6B7AD661}"/>
              </a:ext>
            </a:extLst>
          </p:cNvPr>
          <p:cNvCxnSpPr>
            <a:cxnSpLocks/>
          </p:cNvCxnSpPr>
          <p:nvPr/>
        </p:nvCxnSpPr>
        <p:spPr>
          <a:xfrm flipH="1">
            <a:off x="6468864" y="2100122"/>
            <a:ext cx="3470602" cy="71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630F88EC-2739-1445-7A57-3646C090C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6274"/>
            <a:ext cx="7772400" cy="43334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20770B-6481-0B59-E73A-3E483A8DD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200" y="5405509"/>
            <a:ext cx="5006428" cy="132957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919D816-091C-1D1E-DA86-8F933F5EEF78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3436883" y="3121572"/>
            <a:ext cx="48224" cy="19453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981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D7B6BE-A4E0-4483-BEC5-493AC3E5D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4596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 Implementation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24570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4">
                    <a:lumMod val="75000"/>
                  </a:schemeClr>
                </a:solidFill>
              </a:rPr>
              <a:t>Function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dirty="0"/>
              <a:t>subplots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62BA66-2597-2AD5-1824-FC41D227F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2000" y="5261006"/>
            <a:ext cx="3048000" cy="914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7A650E-136E-FC2C-E38C-935CCEABF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1566" y="5326872"/>
            <a:ext cx="3006639" cy="7880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348D3-BC69-B435-835E-EBD10E7B439D}"/>
              </a:ext>
            </a:extLst>
          </p:cNvPr>
          <p:cNvSpPr txBox="1"/>
          <p:nvPr/>
        </p:nvSpPr>
        <p:spPr>
          <a:xfrm>
            <a:off x="63432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4">
                    <a:lumMod val="75000"/>
                  </a:schemeClr>
                </a:solidFill>
              </a:rPr>
              <a:t>Function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dirty="0" err="1"/>
              <a:t>subplots_adjust</a:t>
            </a:r>
            <a:endParaRPr lang="en-US" sz="16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8ACE4C7-B1EE-3BB0-8A1B-A86EC5CED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0" y="588653"/>
            <a:ext cx="7772400" cy="446991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CB4D6E-77F5-8E7A-C91A-070DB410AF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774" y="629273"/>
            <a:ext cx="711200" cy="3048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F8EE8A8-EB4A-D8E8-30F2-80B67A2F27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773" y="1000709"/>
            <a:ext cx="711201" cy="3333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EA98DB7-B4CF-283D-C93E-68FF0BE9E9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773" y="1421448"/>
            <a:ext cx="732325" cy="26980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-353292" y="198640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First Row</a:t>
            </a:r>
            <a:endParaRPr lang="en-US" sz="1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A4B6580-5AF4-0DD0-E3FC-E7E3C26E55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9055" y="6316410"/>
            <a:ext cx="7772400" cy="31563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4B4286E-0D43-E9CC-4239-AC687C2D00CF}"/>
              </a:ext>
            </a:extLst>
          </p:cNvPr>
          <p:cNvSpPr txBox="1"/>
          <p:nvPr/>
        </p:nvSpPr>
        <p:spPr>
          <a:xfrm>
            <a:off x="-454275" y="6293486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4">
                    <a:lumMod val="75000"/>
                  </a:schemeClr>
                </a:solidFill>
              </a:rPr>
              <a:t>Function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dirty="0" err="1"/>
              <a:t>FuncFormatter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20018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D7B6BE-A4E0-4483-BEC5-493AC3E5D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4596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 Implementation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24570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Normalization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-191934" y="208598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50000"/>
                  </a:schemeClr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Second Row</a:t>
            </a:r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D97908-B457-BE9A-5367-D3614C91B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560118"/>
            <a:ext cx="7772400" cy="4357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80D831-9FA6-BBB9-0DCE-C1B07FC5F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773" y="655273"/>
            <a:ext cx="763935" cy="2745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3703ED-B978-18AB-D0C2-39B970F685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317" y="999052"/>
            <a:ext cx="773391" cy="2812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86D432-B4A5-BD17-E946-8BACE2CBAA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317" y="1333797"/>
            <a:ext cx="794789" cy="2812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2D07A6-4950-43AF-F53C-ED21A6A87C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81335" y="5366105"/>
            <a:ext cx="3314700" cy="330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F2EFB4-E551-C350-E9C4-F21ACFDFE4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1" y="6272071"/>
            <a:ext cx="7772400" cy="23702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B02002-E32A-2A67-F847-6AA0FB5A5301}"/>
              </a:ext>
            </a:extLst>
          </p:cNvPr>
          <p:cNvSpPr txBox="1"/>
          <p:nvPr/>
        </p:nvSpPr>
        <p:spPr>
          <a:xfrm>
            <a:off x="2457020" y="5886560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Bar(</a:t>
            </a:r>
            <a:r>
              <a:rPr lang="en-US" sz="1600" dirty="0" err="1">
                <a:solidFill>
                  <a:schemeClr val="accent2">
                    <a:lumMod val="75000"/>
                  </a:schemeClr>
                </a:solidFill>
              </a:rPr>
              <a:t>x,y,data</a:t>
            </a:r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8082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9D7B6BE-A4E0-4483-BEC5-493AC3E5D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4596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 dirty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55F6CF-441E-90B8-4FC1-477F5055F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8422" y="604153"/>
            <a:ext cx="6240526" cy="62544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142313" y="653015"/>
            <a:ext cx="275453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Effect during COVID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Slow Fall off after COVID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King County plays big part in the economics of cannabis.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Tax Income increased 20 million in King County Alone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Total Sales in Washington reached almost 3 Billion</a:t>
            </a:r>
          </a:p>
        </p:txBody>
      </p:sp>
    </p:spTree>
    <p:extLst>
      <p:ext uri="{BB962C8B-B14F-4D97-AF65-F5344CB8AC3E}">
        <p14:creationId xmlns:p14="http://schemas.microsoft.com/office/powerpoint/2010/main" val="311642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609</TotalTime>
  <Words>658</Words>
  <Application>Microsoft Office PowerPoint</Application>
  <PresentationFormat>Widescreen</PresentationFormat>
  <Paragraphs>140</Paragraphs>
  <Slides>22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Grandview Display</vt:lpstr>
      <vt:lpstr>DashVTI</vt:lpstr>
      <vt:lpstr>Visual 1 Alex Boyce  </vt:lpstr>
      <vt:lpstr>Visual 2 Alex Boyce  </vt:lpstr>
      <vt:lpstr>Visual 3 Alex Boyce  </vt:lpstr>
      <vt:lpstr>Visual 4 Kyle Dennewith  </vt:lpstr>
      <vt:lpstr>METHODOLOGY</vt:lpstr>
      <vt:lpstr>METHODOLOGY</vt:lpstr>
      <vt:lpstr>METHODOLOGY</vt:lpstr>
      <vt:lpstr>METHODOLOGY</vt:lpstr>
      <vt:lpstr>VISUAL</vt:lpstr>
      <vt:lpstr>Visual 5 Kyle Dennewith  </vt:lpstr>
      <vt:lpstr>METHODOLOGY</vt:lpstr>
      <vt:lpstr>METHODOLOGY</vt:lpstr>
      <vt:lpstr>METHODOLOGY</vt:lpstr>
      <vt:lpstr>VISUAL</vt:lpstr>
      <vt:lpstr>Visual 6 Kyle Dennewith  </vt:lpstr>
      <vt:lpstr>METHODOLOGY</vt:lpstr>
      <vt:lpstr>METHODOLOGY</vt:lpstr>
      <vt:lpstr>METHODOLOGY</vt:lpstr>
      <vt:lpstr>METHODOLOGY</vt:lpstr>
      <vt:lpstr>METHODOLOGY</vt:lpstr>
      <vt:lpstr>METHODOLOGY</vt:lpstr>
      <vt:lpstr>VISUAL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Dennewith</dc:creator>
  <cp:lastModifiedBy>Kyle Dennewith</cp:lastModifiedBy>
  <cp:revision>5</cp:revision>
  <dcterms:created xsi:type="dcterms:W3CDTF">2025-05-31T05:22:09Z</dcterms:created>
  <dcterms:modified xsi:type="dcterms:W3CDTF">2025-06-01T16:42:59Z</dcterms:modified>
</cp:coreProperties>
</file>